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70" r:id="rId20"/>
    <p:sldId id="262" r:id="rId7"/>
    <p:sldId id="264" r:id="rId9"/>
    <p:sldId id="265" r:id="rId10"/>
    <p:sldId id="266" r:id="rId11"/>
    <p:sldId id="267" r:id="rId12"/>
    <p:sldId id="268" r:id="rId13"/>
    <p:sldId id="269" r:id="rId14"/>
    <p:sldId id="271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57F4-0B7D-42AF-BC00-D634059FD015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3570A1-90EC-4687-88C5-EBDF69EB73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077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953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0747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21488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731520" y="2606040"/>
            <a:ext cx="10728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Desktop으로 내 자료 연동하기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3886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· Google Drive · Gmail 연동  —  업로드에서 '연동'으로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444088" y="5120640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44088" y="512064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통로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78728" y="5120640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78728" y="512064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활용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1교시 수업 개요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618488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Desktop에 내 자료를 연동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143000" y="204825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내 PC 폴더    ②  Google Drive    ③  Gmail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폴더는 Claude 데스크톱 앱이 있어야 연결  ·  Drive · Gmail은 웹 · 모바일에서도 사용 가능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218688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연동해 두면, Claude가 직접 접근해 작업</a:t>
            </a:r>
            <a:endParaRPr kumimoji="0" lang="ko-KR" altLang="en-US" sz="155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143000" y="37033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매번 올리지 않아도, Claude가 폴더 속 문서를 읽고 근거로 답함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46177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4818888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RAG 간단 개념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143000" y="53035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정의를 외우지 않고, 직접 연결하고 물어보며 '아, 이게 그거구나' 하고 익히는 방식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연동하나요?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내 폴더에서 직접 파일을 읽고 처리 가능 — 데이터 분석할 파일을 일일이 업로드할 필요 없음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481328"/>
            <a:ext cx="5230368" cy="457200"/>
          </a:xfrm>
          <a:prstGeom prst="roundRect">
            <a:avLst>
              <a:gd name="adj" fmla="val 1200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 — 업로드 방식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291072" y="1481328"/>
            <a:ext cx="5230368" cy="457200"/>
          </a:xfrm>
          <a:prstGeom prst="roundRect">
            <a:avLst>
              <a:gd name="adj" fmla="val 12000"/>
            </a:avLst>
          </a:prstGeom>
          <a:solidFill>
            <a:srgbClr val="2A2412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91072" y="1481328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오늘부터 — 연동 방식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230368" cy="1316736"/>
          </a:xfrm>
          <a:prstGeom prst="roundRect">
            <a:avLst>
              <a:gd name="adj" fmla="val 4167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8992" y="2267712"/>
            <a:ext cx="4718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채팅창에 매번 하나하나 올림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078992" y="2706624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대화할 때마다 같은 파일을 다시 끌어다 놓는 반복 작업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91072" y="2103120"/>
            <a:ext cx="5230368" cy="1316736"/>
          </a:xfrm>
          <a:prstGeom prst="roundRect">
            <a:avLst>
              <a:gd name="adj" fmla="val 4167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47104" y="2267712"/>
            <a:ext cx="4718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· Drive를 통째로 꽂아두면 끝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547104" y="2706624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하나씩 고르거나 올릴 필요 없음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3584448"/>
            <a:ext cx="5230368" cy="1316736"/>
          </a:xfrm>
          <a:prstGeom prst="roundRect">
            <a:avLst>
              <a:gd name="adj" fmla="val 4167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3749040"/>
            <a:ext cx="4718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많으면 번거로움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078992" y="4187952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문서를 다룰수록 업로드 부담이 커짐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91072" y="3584448"/>
            <a:ext cx="5230368" cy="1316736"/>
          </a:xfrm>
          <a:prstGeom prst="roundRect">
            <a:avLst>
              <a:gd name="adj" fmla="val 4167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3749040"/>
            <a:ext cx="4718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파일에 직접 접근해 작업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6547104" y="4187952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안 문서를 스스로 찾아 읽고 정리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22960" y="5065776"/>
            <a:ext cx="5230368" cy="1316736"/>
          </a:xfrm>
          <a:prstGeom prst="roundRect">
            <a:avLst>
              <a:gd name="adj" fmla="val 4167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78992" y="5230368"/>
            <a:ext cx="4718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끝나면 휘발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078992" y="5669280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대화에서는 다시 처음부터 올려야 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91072" y="5065776"/>
            <a:ext cx="5230368" cy="1316736"/>
          </a:xfrm>
          <a:prstGeom prst="roundRect">
            <a:avLst>
              <a:gd name="adj" fmla="val 4167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47104" y="5230368"/>
            <a:ext cx="4718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끝나도 자료는 그대로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547104" y="5669280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대화에서도 다시 올리지 않고 바로 물어보면 됨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나오는 두 단어 — MCP · RAG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단어의 간략한 개념만 짚고 넘어가기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5230368" cy="4846320"/>
          </a:xfrm>
          <a:prstGeom prst="roundRect">
            <a:avLst>
              <a:gd name="adj" fmla="val 1132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755648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Context Protocol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115568" y="230428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꽂는다 / 연결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115568" y="2788920"/>
            <a:ext cx="4645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외부 서비스 · 도구와 연결되는 표준 규격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Drive · Gmail 커넥터가 MCP로 연결됨 (실습 2 · 3)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12월 Linux Foundation 산하 재단에 기증  ·  ChatGPT · Gemini · Copilot 등도 지원하는 공개 표준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115568" y="4434840"/>
            <a:ext cx="4645152" cy="1554480"/>
          </a:xfrm>
          <a:prstGeom prst="roundRect">
            <a:avLst>
              <a:gd name="adj" fmla="val 3529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0" y="4617720"/>
            <a:ext cx="4133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 USB 포트 같은 공용 규격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371600" y="5029200"/>
            <a:ext cx="4133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규격이 같아서 어떤 서비스든 같은 방식으로 연결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91072" y="1508760"/>
            <a:ext cx="5230368" cy="4846320"/>
          </a:xfrm>
          <a:prstGeom prst="roundRect">
            <a:avLst>
              <a:gd name="adj" fmla="val 1132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755648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Retrieval-Augmented Generation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583680" y="230428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물어본다 / 활용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583680" y="2788920"/>
            <a:ext cx="4645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연결해 온 자료를 뒤져 근거로 답하는 방식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문서를 근거로 답했는지 되짚어 볼 수 있음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583680" y="4434840"/>
            <a:ext cx="4645152" cy="1554480"/>
          </a:xfrm>
          <a:prstGeom prst="roundRect">
            <a:avLst>
              <a:gd name="adj" fmla="val 3529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39712" y="4617720"/>
            <a:ext cx="4133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 도서관 사서 같은 방식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839712" y="5029200"/>
            <a:ext cx="4133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자료를 직접 찾아와 답의 근거로 삼음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연동 한눈에 보기 — 꽂기(연결) → 물어보기(RAG)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3017520" cy="1280160"/>
          </a:xfrm>
          <a:prstGeom prst="roundRect">
            <a:avLst>
              <a:gd name="adj" fmla="val 428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755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51560" y="22128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Word · PDF · TXT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3108960"/>
            <a:ext cx="3017520" cy="1280160"/>
          </a:xfrm>
          <a:prstGeom prst="roundRect">
            <a:avLst>
              <a:gd name="adj" fmla="val 428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3101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051560" y="37673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문서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4663440"/>
            <a:ext cx="3017520" cy="1280160"/>
          </a:xfrm>
          <a:prstGeom prst="roundRect">
            <a:avLst>
              <a:gd name="adj" fmla="val 428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8646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51560" y="53218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· 답장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120640" y="265176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2A2412"/>
          </a:solidFill>
          <a:ln w="19050">
            <a:solidFill>
              <a:srgbClr val="FFD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28529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120640" y="33101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Desktop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06840" y="2651760"/>
            <a:ext cx="2377440" cy="1554480"/>
          </a:xfrm>
          <a:prstGeom prst="roundRect">
            <a:avLst>
              <a:gd name="adj" fmla="val 3529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06840" y="2880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자료를 근거로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9006840" y="32735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· 답변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840480" y="2194560"/>
            <a:ext cx="1280160" cy="1234440"/>
          </a:xfrm>
          <a:prstGeom prst="line">
            <a:avLst/>
          </a:prstGeom>
          <a:noFill/>
          <a:ln w="19050">
            <a:solidFill>
              <a:srgbClr val="4A443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840480" y="3749040"/>
            <a:ext cx="1280160" cy="0"/>
          </a:xfrm>
          <a:prstGeom prst="line">
            <a:avLst/>
          </a:prstGeom>
          <a:noFill/>
          <a:ln w="19050">
            <a:solidFill>
              <a:srgbClr val="4A443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3840480" y="4023360"/>
            <a:ext cx="1280160" cy="1280160"/>
          </a:xfrm>
          <a:prstGeom prst="line">
            <a:avLst/>
          </a:prstGeom>
          <a:noFill/>
          <a:ln w="19050">
            <a:solidFill>
              <a:srgbClr val="4A443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72400" y="3429000"/>
            <a:ext cx="1234440" cy="0"/>
          </a:xfrm>
          <a:prstGeom prst="line">
            <a:avLst/>
          </a:prstGeom>
          <a:noFill/>
          <a:ln w="2540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3017520" y="10972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연결  =  폴더 추가 · 커넥터(MCP)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8001000" y="109728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근거로 답한다  =  RAG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22960" y="5989320"/>
            <a:ext cx="10561320" cy="566928"/>
          </a:xfrm>
          <a:prstGeom prst="roundRect">
            <a:avLst>
              <a:gd name="adj" fmla="val 9677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97280" y="598932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폴더는 '폴더 추가'로, Drive · Gmail은 커넥터(MCP)로 꽂고  —  꽂은 자료를 찾아 읽고 근거로 답한다(RAG)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" name="Shape 2"/>
          <p:cNvSpPr/>
          <p:nvPr/>
        </p:nvSpPr>
        <p:spPr>
          <a:xfrm>
            <a:off x="2432304" y="1783080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A2412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3" name="Text 3"/>
          <p:cNvSpPr txBox="1"/>
          <p:nvPr/>
        </p:nvSpPr>
        <p:spPr>
          <a:xfrm>
            <a:off x="2432304" y="17830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추가</a:t>
            </a: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2432304" y="3337560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A2412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5" name="Text 5"/>
          <p:cNvSpPr txBox="1"/>
          <p:nvPr/>
        </p:nvSpPr>
        <p:spPr>
          <a:xfrm>
            <a:off x="2432304" y="333756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· MCP</a:t>
            </a: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2432304" y="4892040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A2412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7" name="Text 7"/>
          <p:cNvSpPr txBox="1"/>
          <p:nvPr/>
        </p:nvSpPr>
        <p:spPr>
          <a:xfrm>
            <a:off x="2432304" y="489204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· MCP</a:t>
            </a: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① 꽂기 (연결)  |  내 폴더 연동하기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강의 자료 압축을 푼 폴더만 연결  ·  연구원 컴퓨터 또는 보안이 중요한 폴더는 연동 주의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822960" y="1600200"/>
            <a:ext cx="5230368" cy="1298448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Shape 5"/>
          <p:cNvSpPr/>
          <p:nvPr/>
        </p:nvSpPr>
        <p:spPr>
          <a:xfrm>
            <a:off x="1042416" y="20116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6" name="Text 6"/>
          <p:cNvSpPr txBox="1"/>
          <p:nvPr/>
        </p:nvSpPr>
        <p:spPr>
          <a:xfrm>
            <a:off x="1042416" y="2011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1691640" y="1801368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데스크톱 앱에서 새 대화 열기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1691640" y="2331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아래 권한 모드를 '수동'으로 변경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Shape 9"/>
          <p:cNvSpPr/>
          <p:nvPr/>
        </p:nvSpPr>
        <p:spPr>
          <a:xfrm>
            <a:off x="822960" y="3081528"/>
            <a:ext cx="5230368" cy="1298448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Shape 10"/>
          <p:cNvSpPr/>
          <p:nvPr/>
        </p:nvSpPr>
        <p:spPr>
          <a:xfrm>
            <a:off x="1042416" y="349300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1042416" y="3493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1691640" y="32826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아래 '폴더 추가' 클릭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1691640" y="3813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선택 창에서 강의 자료 폴더 지정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822960" y="4562856"/>
            <a:ext cx="5230368" cy="1298448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Shape 15"/>
          <p:cNvSpPr/>
          <p:nvPr/>
        </p:nvSpPr>
        <p:spPr>
          <a:xfrm>
            <a:off x="1042416" y="497433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1042416" y="4974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1691640" y="4764024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창에서 폴더 경로 확인 후 '허용'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1691640" y="5294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Claude는 연결한 폴더 안의 파일만 읽고 씀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291072" y="1600200"/>
            <a:ext cx="5230368" cy="155448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6547104" y="1755648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연결 확인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6547104" y="2139696"/>
            <a:ext cx="4718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입력창에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"연결한 폴더에 있는 파일 목록 보여줘"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입력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허용을 묻는 창이 뜨면 '허용'  →  파일 이름이 나오면 성공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목록이 안 나오면 '폴더 추가'로 폴더를 다시 지정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6291072" y="3337560"/>
            <a:ext cx="5230368" cy="1417320"/>
          </a:xfrm>
          <a:prstGeom prst="roundRect">
            <a:avLst>
              <a:gd name="adj" fmla="val 4444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6547104" y="3493008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추가 vs 커넥터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6547104" y="3877056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  →  '폴더 추가' 버튼 하나 (커넥터 설치 없음)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서비스(Drive · Gmail)  →  커넥터로 연결 = MCP (실습 2)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6291072" y="4937760"/>
            <a:ext cx="5230368" cy="923544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547104" y="5047488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'폴더 추가' 버튼이 안 보이면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A89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6547104" y="5376672"/>
            <a:ext cx="4718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업데이트 후 재실행  →  그래도 없으면 마지막 부록 참고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② 물어보기 (RAG · 활용)  |  폴더에 물어보기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허용을 묻는 창이 뜨면 내용을 확인하고 '허용' 클릭  (권한 모드 '수동' 기준)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822960" y="1554480"/>
            <a:ext cx="5212080" cy="132588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5" name="Text 5"/>
          <p:cNvSpPr txBox="1"/>
          <p:nvPr/>
        </p:nvSpPr>
        <p:spPr>
          <a:xfrm>
            <a:off x="1005840" y="16824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이렇게 물어보세요 (프롬프트 예시)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1005840" y="2048256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"연결한 폴더에서 예산 관련 파일이 있는지 찾아봐. 하위 폴더까지 다 찾아."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7" name="Shape 7"/>
          <p:cNvSpPr/>
          <p:nvPr/>
        </p:nvSpPr>
        <p:spPr>
          <a:xfrm>
            <a:off x="822960" y="306324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8" name="Text 8"/>
          <p:cNvSpPr txBox="1"/>
          <p:nvPr/>
        </p:nvSpPr>
        <p:spPr>
          <a:xfrm>
            <a:off x="1078992" y="31912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프롬프트 외에도 몇 가지 더 물어보기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078992" y="359359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파일을 찾아보라고 지시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 파일을 찾아보라고 지시하는 등 자유롭게 시도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찾은 엑셀 파일을 열어 내용 요약 · 정리까지 지시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Shape 10"/>
          <p:cNvSpPr/>
          <p:nvPr/>
        </p:nvSpPr>
        <p:spPr>
          <a:xfrm>
            <a:off x="822960" y="5074920"/>
            <a:ext cx="5212080" cy="1188720"/>
          </a:xfrm>
          <a:prstGeom prst="roundRect">
            <a:avLst>
              <a:gd name="adj" fmla="val 4444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1078992" y="51663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정확히는 Claude가 도구로 직접 파일을 찾아 읽는 방식(agentic search) — 찾은 자료를 근거로 답하므로 넓은 의미의 RAG로 봄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281928" y="1554480"/>
            <a:ext cx="5175504" cy="2377440"/>
          </a:xfrm>
          <a:prstGeom prst="roundRect">
            <a:avLst>
              <a:gd name="adj" fmla="val 307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Text 13"/>
          <p:cNvSpPr txBox="1"/>
          <p:nvPr/>
        </p:nvSpPr>
        <p:spPr>
          <a:xfrm>
            <a:off x="6537960" y="16824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이렇게 나오면 성공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537960" y="2084832"/>
            <a:ext cx="4663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폴더까지 검색해 파일 이름과 위치를 알려줌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'데이터리터러시_분석' 폴더 안의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'실습1_부서별_예산집행.xlsx'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'예산'으로 못 찾으면 'budget' 같은 다른 검색어로 다시 찾기도 함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281928" y="4114800"/>
            <a:ext cx="5175504" cy="2148840"/>
          </a:xfrm>
          <a:prstGeom prst="roundRect">
            <a:avLst>
              <a:gd name="adj" fmla="val 3404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6537960" y="4261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무엇을 보고 답했는지 확인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6537960" y="46634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중간의 작업 표시줄 오른쪽 '&gt;'를 눌러 펼치면 어떤 파일을 찾고 열었는지 확인 가능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답이 미심쩍으면 "어떤 파일을 보고 답했는지 알려줘"로 근거 확인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폴더 연결 · 실무에서 쓸 때 주의할 점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실습뿐만 아니라 실무에서도 활용해보기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822960" y="155448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Text 5"/>
          <p:cNvSpPr txBox="1"/>
          <p:nvPr/>
        </p:nvSpPr>
        <p:spPr>
          <a:xfrm>
            <a:off x="1078992" y="17007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폴더 연결 · 관리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1078992" y="210312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'폴더 추가'를 반복해 필요한 폴더를 하나씩 추가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대화에서도 '폴더 추가'로 같은 폴더를 바로 다시 지정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허용한 폴더 목록 확인 · 제거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→ '신뢰할 수 있는 Cowork 폴더' 항목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7" name="Shape 7"/>
          <p:cNvSpPr/>
          <p:nvPr/>
        </p:nvSpPr>
        <p:spPr>
          <a:xfrm>
            <a:off x="822960" y="3566160"/>
            <a:ext cx="5212080" cy="1417320"/>
          </a:xfrm>
          <a:prstGeom prst="roundRect">
            <a:avLst>
              <a:gd name="adj" fmla="val 4444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8" name="Text 8"/>
          <p:cNvSpPr txBox="1"/>
          <p:nvPr/>
        </p:nvSpPr>
        <p:spPr>
          <a:xfrm>
            <a:off x="1078992" y="371246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팁 — Claude 작업용 폴더 따로 만들기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078992" y="41148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업무별 작업 폴더에 필요한 파일만 복사해 두고 그 폴더만 연결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원본은 그대로 두고 사본으로 작업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Shape 10"/>
          <p:cNvSpPr/>
          <p:nvPr/>
        </p:nvSpPr>
        <p:spPr>
          <a:xfrm>
            <a:off x="6281928" y="1554480"/>
            <a:ext cx="5175504" cy="3429000"/>
          </a:xfrm>
          <a:prstGeom prst="roundRect">
            <a:avLst>
              <a:gd name="adj" fmla="val 2133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6537960" y="170078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실무 보안 수칙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A89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537960" y="2139696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· 인증서 · 재무 자료가 있는 폴더는 연결하지 않기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연 파일은 Anthropic 서버로 전송되어 처리됨 — 내 PC에만 머무르지 않음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민감한 파일 · 계정 작업은 권한 모드를 '수동'으로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영구 삭제는 어떤 모드에서도 '허용'을 눌러야 진행 — 무엇을 지우는지 꼭 확인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파일은 미리 백업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보안 지침이 있으면 그 기준이 우선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822960" y="5212080"/>
            <a:ext cx="10698480" cy="731520"/>
          </a:xfrm>
          <a:prstGeom prst="roundRect">
            <a:avLst>
              <a:gd name="adj" fmla="val 4444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4" name="Text 14"/>
          <p:cNvSpPr txBox="1"/>
          <p:nvPr/>
        </p:nvSpPr>
        <p:spPr>
          <a:xfrm>
            <a:off x="1097280" y="5212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정리  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'폴더 추가'로 꽂고  →  질문하면 Claude가 찾아 읽고 답함(RAG)  →  '&gt;'를 펼쳐 근거 확인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— Google Drive 연동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방화벽으로 구글 연동이 안 된다고 하여 강사 시연  (회사 계정이 아닌 분들은 같이 실습 가능 · 다만 보안 주의)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5230368" cy="3566160"/>
          </a:xfrm>
          <a:prstGeom prst="roundRect">
            <a:avLst>
              <a:gd name="adj" fmla="val 1538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783080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 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연결   — 이번에는 커넥터로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234086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340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664208" y="2258568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 → 커넥터 → 탐색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97280" y="298094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2980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664208" y="2898648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옆 '+' 클릭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097280" y="36210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3621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664208" y="3538728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로그인 → 권한 허용  (연결되면 체크 표시)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291072" y="1600200"/>
            <a:ext cx="5230368" cy="3566160"/>
          </a:xfrm>
          <a:prstGeom prst="roundRect">
            <a:avLst>
              <a:gd name="adj" fmla="val 1538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783080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활용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565392" y="2377440"/>
            <a:ext cx="4681728" cy="713232"/>
          </a:xfrm>
          <a:prstGeom prst="roundRect">
            <a:avLst>
              <a:gd name="adj" fmla="val 7692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2377440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"Google Drive에 올린 OOO 보고서 핵심만 정리해줘"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565392" y="3291840"/>
            <a:ext cx="4681728" cy="713232"/>
          </a:xfrm>
          <a:prstGeom prst="roundRect">
            <a:avLst>
              <a:gd name="adj" fmla="val 7692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291840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"지난달 회의자료 중 일정 부분만 뽑아줘"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565392" y="4206240"/>
            <a:ext cx="4681728" cy="713232"/>
          </a:xfrm>
          <a:prstGeom prst="roundRect">
            <a:avLst>
              <a:gd name="adj" fmla="val 7692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4206240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"프로젝트 폴더 문서들 한눈에 요약해줘"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2960" y="5440680"/>
            <a:ext cx="10698480" cy="1051560"/>
          </a:xfrm>
          <a:prstGeom prst="roundRect">
            <a:avLst>
              <a:gd name="adj" fmla="val 5217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544068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10월 기준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Claude가 미리 색인(인덱싱)해 두지 않고, 대화 중 필요한 파일을 Drive에서 찾아 불러오는 방식 — 연결 후 바로 질문 가능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읽기뿐 아니라 Drive에 파일 생성 · 수정 · 공유도 가능 — 쓰기 도구의 기본 권한은 '승인 필요'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" name="Shape 2"/>
          <p:cNvSpPr/>
          <p:nvPr/>
        </p:nvSpPr>
        <p:spPr>
          <a:xfrm>
            <a:off x="1097280" y="4261104"/>
            <a:ext cx="4681728" cy="731520"/>
          </a:xfrm>
          <a:prstGeom prst="roundRect">
            <a:avLst>
              <a:gd name="adj" fmla="val 4444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3" name="Text 3"/>
          <p:cNvSpPr txBox="1"/>
          <p:nvPr/>
        </p:nvSpPr>
        <p:spPr>
          <a:xfrm>
            <a:off x="1298448" y="4261104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한 것이 바로 MCP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Google이 만든 커넥터를 표준 규격으로 Claude에 연결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— Gmail 연동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방화벽으로 구글 연동이 안 된다고 하여 강사 시연  (회사 계정이 아닌 분들은 같이 실습 가능 · 다만 보안 유의)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5230368" cy="3566160"/>
          </a:xfrm>
          <a:prstGeom prst="roundRect">
            <a:avLst>
              <a:gd name="adj" fmla="val 1538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783080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연결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243230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32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664208" y="2377440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 → 커넥터 → 탐색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97280" y="334670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664208" y="3291840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옆 '+' 클릭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097280" y="426110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261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664208" y="4206240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로그인 → 권한 허용  (연결되면 체크 표시)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291072" y="1600200"/>
            <a:ext cx="5230368" cy="3566160"/>
          </a:xfrm>
          <a:prstGeom prst="roundRect">
            <a:avLst>
              <a:gd name="adj" fmla="val 1538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783080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활용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565392" y="2377440"/>
            <a:ext cx="4681728" cy="713232"/>
          </a:xfrm>
          <a:prstGeom prst="roundRect">
            <a:avLst>
              <a:gd name="adj" fmla="val 7692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2377440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받은 중요 메일 요약해줘"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565392" y="3291840"/>
            <a:ext cx="4681728" cy="713232"/>
          </a:xfrm>
          <a:prstGeom prst="roundRect">
            <a:avLst>
              <a:gd name="adj" fmla="val 7692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291840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"민원인 홍길동에게 처리완료 답장 초안 써줘"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565392" y="4206240"/>
            <a:ext cx="4681728" cy="713232"/>
          </a:xfrm>
          <a:prstGeom prst="roundRect">
            <a:avLst>
              <a:gd name="adj" fmla="val 7692"/>
            </a:avLst>
          </a:prstGeom>
          <a:solidFill>
            <a:srgbClr val="221E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4206240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주 예산 관련 메일 찾아줘"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2960" y="5440680"/>
            <a:ext cx="10698480" cy="868680"/>
          </a:xfrm>
          <a:prstGeom prst="roundRect">
            <a:avLst>
              <a:gd name="adj" fmla="val 6316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54406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2와 같은 패턴 — 커넥터로 꽂고(MCP) → 물어본다(RAG).  Drive와 같은 Google 계정으로 인증하면 깔끔함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메일 첨부파일의 내용은 읽지 못함 (파일 이름 등 기본 정보만 확인)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 — '수동' 모드면 메일은 사람이 허용해야 발송됨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8월부터 Claude가 Gmail에서 답장 · 발송 · 전달까지 가능 (유료 플랜)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822960" y="1371600"/>
            <a:ext cx="10698480" cy="1005840"/>
          </a:xfrm>
          <a:prstGeom prst="roundRect">
            <a:avLst>
              <a:gd name="adj" fmla="val 8000"/>
            </a:avLst>
          </a:prstGeom>
          <a:solidFill>
            <a:srgbClr val="2A2412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5" name="Text 5"/>
          <p:cNvSpPr txBox="1"/>
          <p:nvPr/>
        </p:nvSpPr>
        <p:spPr>
          <a:xfrm>
            <a:off x="82296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작업 전 입력창 아래 권한 모드를 '수동'으로 변경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'자동'(Pro · Max · Team 기본)이면 보낼지를 Claude가 판단 — 확인 없이 발송될 수 있음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822960" y="2606040"/>
            <a:ext cx="3291840" cy="2377440"/>
          </a:xfrm>
          <a:prstGeom prst="roundRect">
            <a:avLst>
              <a:gd name="adj" fmla="val 307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Shape 7"/>
          <p:cNvSpPr/>
          <p:nvPr/>
        </p:nvSpPr>
        <p:spPr>
          <a:xfrm>
            <a:off x="219456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8" name="Text 8"/>
          <p:cNvSpPr txBox="1"/>
          <p:nvPr/>
        </p:nvSpPr>
        <p:spPr>
          <a:xfrm>
            <a:off x="219456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00584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답장 작성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1051560" y="4041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ctr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내용을 읽고 답장 문구를 만듦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1" name="Arrow 11"/>
          <p:cNvSpPr/>
          <p:nvPr/>
        </p:nvSpPr>
        <p:spPr>
          <a:xfrm>
            <a:off x="4187952" y="3749040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2" name="Shape 12"/>
          <p:cNvSpPr/>
          <p:nvPr/>
        </p:nvSpPr>
        <p:spPr>
          <a:xfrm>
            <a:off x="4535424" y="2606040"/>
            <a:ext cx="3291840" cy="2377440"/>
          </a:xfrm>
          <a:prstGeom prst="roundRect">
            <a:avLst>
              <a:gd name="adj" fmla="val 307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5907024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4" name="Text 14"/>
          <p:cNvSpPr txBox="1"/>
          <p:nvPr/>
        </p:nvSpPr>
        <p:spPr>
          <a:xfrm>
            <a:off x="5907024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718304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 허용 요청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764024" y="4041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ctr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'Claude가 Gmail에서 이메일을 보내려고 합니다' 창에서 받는 사람 · 내용 검토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7" name="Arrow 17"/>
          <p:cNvSpPr/>
          <p:nvPr/>
        </p:nvSpPr>
        <p:spPr>
          <a:xfrm>
            <a:off x="7900416" y="3749040"/>
            <a:ext cx="274320" cy="0"/>
          </a:xfrm>
          <a:prstGeom prst="line">
            <a:avLst/>
          </a:prstGeom>
          <a:noFill/>
          <a:ln w="19050">
            <a:solidFill>
              <a:srgbClr val="FFD733"/>
            </a:solidFill>
            <a:prstDash val="solid"/>
            <a:tailEnd type="triangle"/>
          </a:ln>
        </p:spPr>
      </p:sp>
      <p:sp>
        <p:nvSpPr>
          <p:cNvPr id="18" name="Shape 18"/>
          <p:cNvSpPr/>
          <p:nvPr/>
        </p:nvSpPr>
        <p:spPr>
          <a:xfrm>
            <a:off x="8247888" y="2606040"/>
            <a:ext cx="3291840" cy="2377440"/>
          </a:xfrm>
          <a:prstGeom prst="roundRect">
            <a:avLst>
              <a:gd name="adj" fmla="val 307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9" name="Shape 19"/>
          <p:cNvSpPr/>
          <p:nvPr/>
        </p:nvSpPr>
        <p:spPr>
          <a:xfrm>
            <a:off x="9619488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9619488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8430768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'허용'을 눌러야 발송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8476488" y="4041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ctr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않으면 발송되지 않음  ·  초안만 원하면 "초안만 작성해줘"라고 지시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822960" y="5257800"/>
            <a:ext cx="10698480" cy="1097280"/>
          </a:xfrm>
          <a:prstGeom prst="roundRect">
            <a:avLst>
              <a:gd name="adj" fmla="val 4444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1097280" y="525780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설정 위치  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 → 커넥터 → 내 항목 → Gmail → 도구 권한  (보내기 · 답장 · 전달의 기본값은 '승인 필요')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발송을 아예 막으려면 Send email message · Reply to email · Forward email을 '차단됨'으로 — 모든 모드에서 실행 안 됨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3가지만 연동 실습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밖에도 Slack · GitHub 등 수천 개의 커넥터를 같은 방식으로 연동 가능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822960" y="1463040"/>
            <a:ext cx="10698480" cy="91440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5" name="Text 5"/>
          <p:cNvSpPr txBox="1"/>
          <p:nvPr/>
        </p:nvSpPr>
        <p:spPr>
          <a:xfrm>
            <a:off x="1097280" y="146304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찾는 곳   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 → 커넥터 → 탐색 → 돋보기로 검색 → '+'로 연결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연결한 커넥터는 '내 항목'에서 확인  ·  대화 중 필요한 커넥터를 Claude가 먼저 제안하기도 함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822960" y="2606040"/>
            <a:ext cx="3401568" cy="2011680"/>
          </a:xfrm>
          <a:prstGeom prst="roundRect">
            <a:avLst>
              <a:gd name="adj" fmla="val 363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7" name="Text 7"/>
          <p:cNvSpPr txBox="1"/>
          <p:nvPr/>
        </p:nvSpPr>
        <p:spPr>
          <a:xfrm>
            <a:off x="1078992" y="2761488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· 소통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1078992" y="3255264"/>
            <a:ext cx="2889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Notion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Atlassian (Jira · Confluence)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Shape 9"/>
          <p:cNvSpPr/>
          <p:nvPr/>
        </p:nvSpPr>
        <p:spPr>
          <a:xfrm>
            <a:off x="4471416" y="2606040"/>
            <a:ext cx="3401568" cy="2011680"/>
          </a:xfrm>
          <a:prstGeom prst="roundRect">
            <a:avLst>
              <a:gd name="adj" fmla="val 363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Text 10"/>
          <p:cNvSpPr txBox="1"/>
          <p:nvPr/>
        </p:nvSpPr>
        <p:spPr>
          <a:xfrm>
            <a:off x="4727448" y="2761488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· 오피스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4727448" y="3255264"/>
            <a:ext cx="2889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Calendar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365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(Outlook · Teams · OneDrive 등)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8119872" y="2606040"/>
            <a:ext cx="3401568" cy="2011680"/>
          </a:xfrm>
          <a:prstGeom prst="roundRect">
            <a:avLst>
              <a:gd name="adj" fmla="val 3636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3" name="Text 13"/>
          <p:cNvSpPr txBox="1"/>
          <p:nvPr/>
        </p:nvSpPr>
        <p:spPr>
          <a:xfrm>
            <a:off x="8375904" y="2761488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· 디자인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375904" y="3255264"/>
            <a:ext cx="2889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 marR="0" lvl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Canva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822960" y="4846320"/>
            <a:ext cx="10698480" cy="1097280"/>
          </a:xfrm>
          <a:prstGeom prst="roundRect">
            <a:avLst>
              <a:gd name="adj" fmla="val 4444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1097280" y="484632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순서는 오늘과 동일  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'+' 클릭 → 계정 로그인 → 권한 허용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· 기업 플랜은 관리자가 먼저 커넥터를 허용해야 연결 가능  ·  회사 계정은 기관 보안 정책부터 확인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전에 알아둘 것 — 2026년 10월 기준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채팅과 Cowork(파일 작업)이 하나로 합쳐져, 어느 대화에서든 파일 작업이 가능해짐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822960" y="1554480"/>
            <a:ext cx="10698480" cy="109728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Shape 5"/>
          <p:cNvSpPr/>
          <p:nvPr/>
        </p:nvSpPr>
        <p:spPr>
          <a:xfrm>
            <a:off x="1042416" y="186537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6" name="Text 6"/>
          <p:cNvSpPr txBox="1"/>
          <p:nvPr/>
        </p:nvSpPr>
        <p:spPr>
          <a:xfrm>
            <a:off x="1042416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1691640" y="155448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연결은 버튼 하나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5074920" y="1554480"/>
            <a:ext cx="6172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아래 '폴더 추가' → 폴더 선택 → '허용'으로 연결 끝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설치 · 경로 입력 · 앱 재시작 없음  (예전 Filesystem 커넥터 방식은 부록)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Shape 9"/>
          <p:cNvSpPr/>
          <p:nvPr/>
        </p:nvSpPr>
        <p:spPr>
          <a:xfrm>
            <a:off x="822960" y="2816352"/>
            <a:ext cx="10698480" cy="109728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Shape 10"/>
          <p:cNvSpPr/>
          <p:nvPr/>
        </p:nvSpPr>
        <p:spPr>
          <a:xfrm>
            <a:off x="1042416" y="31272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1042416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1691640" y="2816352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모드 — 허용을 물을지 선택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5074920" y="2816352"/>
            <a:ext cx="6172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아래 '자동'(Pro · Max · Team 기본): 알아서 진행, 위험할 때만 확인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'수동'(Enterprise 기본): 새 도구를 쓰기 전에 확인  →  오늘 실습은 '수동'으로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822960" y="4078224"/>
            <a:ext cx="10698480" cy="109728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Shape 15"/>
          <p:cNvSpPr/>
          <p:nvPr/>
        </p:nvSpPr>
        <p:spPr>
          <a:xfrm>
            <a:off x="1042416" y="438912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1042416" y="4389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1691640" y="4078224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작업은 클라우드, 폴더는 내 PC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5074920" y="4078224"/>
            <a:ext cx="6172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작업은 앱을 닫아도 계속 진행  ·  휴대폰에서도 진행 상황 확인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내 PC 폴더를 쓰는 작업은 데스크톱 앱이 켜져 있어야 함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822960" y="5394960"/>
            <a:ext cx="10698480" cy="868680"/>
          </a:xfrm>
          <a:prstGeom prst="roundRect">
            <a:avLst>
              <a:gd name="adj" fmla="val 4444"/>
            </a:avLst>
          </a:prstGeom>
          <a:solidFill>
            <a:srgbClr val="221E10"/>
          </a:solidFill>
          <a:ln w="12700">
            <a:solidFill>
              <a:srgbClr val="8A7C42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1097280" y="539496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시점은 플랜마다 다름  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 · Max부터 순차 적용, 팀 · 기업은 관리자가 켠 경우에만  —  '폴더 추가' 버튼이 없으면 부록 참고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'폴더 추가' 버튼이 안 보일 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D733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02920" y="80467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 · 앱 버전에 따라 아직 이전 화면일 수 있음  ·  아래 순서대로 확인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822960" y="1508760"/>
            <a:ext cx="10698480" cy="91440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5" name="Shape 5"/>
          <p:cNvSpPr/>
          <p:nvPr/>
        </p:nvSpPr>
        <p:spPr>
          <a:xfrm>
            <a:off x="1042416" y="17282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6" name="Text 6"/>
          <p:cNvSpPr txBox="1"/>
          <p:nvPr/>
        </p:nvSpPr>
        <p:spPr>
          <a:xfrm>
            <a:off x="1042416" y="1728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1691640" y="1508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앱을 최신 버전으로 업데이트 후 재실행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5257800" y="1508760"/>
            <a:ext cx="5989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Windows는 최신 버전이어야 파일 작업 기능 사용 가능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Shape 9"/>
          <p:cNvSpPr/>
          <p:nvPr/>
        </p:nvSpPr>
        <p:spPr>
          <a:xfrm>
            <a:off x="822960" y="2587752"/>
            <a:ext cx="10698480" cy="91440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0" name="Shape 10"/>
          <p:cNvSpPr/>
          <p:nvPr/>
        </p:nvSpPr>
        <p:spPr>
          <a:xfrm>
            <a:off x="1042416" y="280720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1042416" y="2807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1691640" y="2587752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'채팅 / Cowork' 전환 버튼이 보이면 Cowork 선택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5257800" y="2587752"/>
            <a:ext cx="5989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Cowork 화면에서 작업할 폴더를 선택해 연결  →  이후 사용법은 동일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822960" y="3666744"/>
            <a:ext cx="10698480" cy="1737360"/>
          </a:xfrm>
          <a:prstGeom prst="roundRect">
            <a:avLst>
              <a:gd name="adj" fmla="val 4210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15" name="Shape 15"/>
          <p:cNvSpPr/>
          <p:nvPr/>
        </p:nvSpPr>
        <p:spPr>
          <a:xfrm>
            <a:off x="1042416" y="42976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FD733"/>
          </a:solidFill>
          <a:ln w="12700">
            <a:solidFill>
              <a:srgbClr val="FFD733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1042416" y="4297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181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ko-KR" altLang="en-US" sz="1500" b="0" i="0" u="none" strike="noStrike" kern="1200" cap="none" spc="0" normalizeH="0" baseline="0" noProof="0" dirty="0">
              <a:ln>
                <a:noFill/>
              </a:ln>
              <a:solidFill>
                <a:srgbClr val="1A1810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1691640" y="3666744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없으면 Filesystem 커넥터로 연결 (이전 방식)</a:t>
            </a:r>
            <a:endParaRPr kumimoji="0" lang="ko-KR" altLang="en-US" sz="1350" b="0" i="0" u="none" strike="noStrike" kern="1200" cap="none" spc="0" normalizeH="0" baseline="0" noProof="0" dirty="0">
              <a:ln>
                <a:noFill/>
              </a:ln>
              <a:solidFill>
                <a:srgbClr val="FFDF57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5257800" y="3666744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 → 커넥터 → 탐색에서 'Filesystem' 검색 → + 눌러 설치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(이전 화면은 '추가 → 커넥터 둘러보기' · 목록에 없으면 설정 → 확장 프로그램)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Allowed Directories에 폴더 경로 추가 → 저장 → '사용 중'으로 켜기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종료 후 재시작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marR="0" lvl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질문할 때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FDF5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"filesystem으로 연결한 폴더에서 …"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EDE8D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지정</a:t>
            </a:r>
            <a:endParaRPr kumimoji="0" lang="ko-KR" altLang="en-US" sz="1250" b="0" i="0" u="none" strike="noStrike" kern="1200" cap="none" spc="0" normalizeH="0" baseline="0" noProof="0" dirty="0">
              <a:ln>
                <a:noFill/>
              </a:ln>
              <a:solidFill>
                <a:srgbClr val="EDE8DB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822960" y="5568696"/>
            <a:ext cx="10698480" cy="777240"/>
          </a:xfrm>
          <a:prstGeom prst="roundRect">
            <a:avLst>
              <a:gd name="adj" fmla="val 4444"/>
            </a:avLst>
          </a:prstGeom>
          <a:solidFill>
            <a:srgbClr val="1A1810"/>
          </a:solidFill>
          <a:ln w="12700">
            <a:solidFill>
              <a:srgbClr val="4A4430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1097280" y="5568696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marR="0" lvl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A89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Filesystem 방식 경로 참고  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경로에 '바탕 화면'처럼 한글 · 띄어쓰기가 있으면 오류가 난 사례 있음 → 영문 경로로 시도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</Words>
  <Application>Microsoft Office PowerPoint</Application>
  <PresentationFormat>와이드스크린</PresentationFormat>
  <Paragraphs>144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think</dc:creator>
  <cp:lastModifiedBy>think</cp:lastModifiedBy>
  <cp:revision>1</cp:revision>
  <dcterms:created xsi:type="dcterms:W3CDTF">2026-10-21T20:36:25Z</dcterms:created>
  <dcterms:modified xsi:type="dcterms:W3CDTF">2026-10-21T20:36:58Z</dcterms:modified>
</cp:coreProperties>
</file>