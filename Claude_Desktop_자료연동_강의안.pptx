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58" r:id="rId3"/>
    <p:sldId id="259" r:id="rId4"/>
    <p:sldId id="260" r:id="rId5"/>
    <p:sldId id="261" r:id="rId6"/>
    <p:sldId id="270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957F4-0B7D-42AF-BC00-D634059FD01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570A1-90EC-4687-88C5-EBDF69EB73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07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4953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74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48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7286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Desktop으로 내 자료 연동하기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097280" y="388620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 · Google Drive · Gmail 연동  —  업로드에서 '연동'으로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수업 개요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43000" y="16184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Desktop에 내 자료를 연동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43000" y="204825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 내 PC 폴더    ②  Google Drive    ③  Gmail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폴더는 Claude 데스크톱 앱이 있어야 연결  ·  Drive · Gmail은 웹 · 모바일에서도 사용 가능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2186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연동해 두면, Claude가 직접 접근해 작업</a:t>
            </a:r>
            <a:endParaRPr kumimoji="0" lang="ko-KR" altLang="en-US" sz="155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143000" y="37033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매번 올리지 않아도, Claude가 폴더 속 문서를 읽고 근거로 답함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481888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RAG 간단 개념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143000" y="53035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정의를 외우지 않고, 직접 연결하고 물어보며 '아, 이게 그거구나' 하고 익히는 방식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연동하나요?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내 폴더에서 직접 파일을 읽고 처리 가능 — 데이터 분석할 파일을 일일이 업로드할 필요 없음</a:t>
            </a:r>
          </a:p>
        </p:txBody>
      </p:sp>
      <p:sp>
        <p:nvSpPr>
          <p:cNvPr id="4" name="Shape 2"/>
          <p:cNvSpPr/>
          <p:nvPr/>
        </p:nvSpPr>
        <p:spPr>
          <a:xfrm>
            <a:off x="822960" y="1481328"/>
            <a:ext cx="5230368" cy="457200"/>
          </a:xfrm>
          <a:prstGeom prst="roundRect">
            <a:avLst>
              <a:gd name="adj" fmla="val 1200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81328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— 업로드 방식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91072" y="1481328"/>
            <a:ext cx="5230368" cy="457200"/>
          </a:xfrm>
          <a:prstGeom prst="roundRect">
            <a:avLst>
              <a:gd name="adj" fmla="val 12000"/>
            </a:avLst>
          </a:prstGeom>
          <a:solidFill>
            <a:srgbClr val="2A2412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91072" y="1481328"/>
            <a:ext cx="5230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배우는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연동 방식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5230368" cy="1316736"/>
          </a:xfrm>
          <a:prstGeom prst="roundRect">
            <a:avLst>
              <a:gd name="adj" fmla="val 4167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78992" y="2267712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채팅창에 매번 하나하나 올림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78992" y="2706624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대화할 때마다 같은 파일을 다시 끌어다 놓는 반복 작업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91072" y="2103120"/>
            <a:ext cx="5230368" cy="1316736"/>
          </a:xfrm>
          <a:prstGeom prst="roundRect">
            <a:avLst>
              <a:gd name="adj" fmla="val 4167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47104" y="2267712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· Drive를 통째로 꽂아두면 끝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47104" y="2706624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하나씩 고르거나 올릴 필요 없음</a:t>
            </a:r>
          </a:p>
        </p:txBody>
      </p:sp>
      <p:sp>
        <p:nvSpPr>
          <p:cNvPr id="14" name="Shape 12"/>
          <p:cNvSpPr/>
          <p:nvPr/>
        </p:nvSpPr>
        <p:spPr>
          <a:xfrm>
            <a:off x="822960" y="3584448"/>
            <a:ext cx="5230368" cy="1316736"/>
          </a:xfrm>
          <a:prstGeom prst="roundRect">
            <a:avLst>
              <a:gd name="adj" fmla="val 4167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78992" y="3749040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자료가 많으면 번거로움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1078992" y="4187952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문서를 다룰수록 업로드 부담이 커짐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91072" y="3584448"/>
            <a:ext cx="5230368" cy="1316736"/>
          </a:xfrm>
          <a:prstGeom prst="roundRect">
            <a:avLst>
              <a:gd name="adj" fmla="val 4167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47104" y="3749040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파일에 직접 접근해 작업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547104" y="4187952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 안 문서를 스스로 찾아 읽고 정리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5065776"/>
            <a:ext cx="5230368" cy="1316736"/>
          </a:xfrm>
          <a:prstGeom prst="roundRect">
            <a:avLst>
              <a:gd name="adj" fmla="val 4167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78992" y="5230368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끝나면 휘발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078992" y="5669280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대화에서는 다시 처음부터 올려야 함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91072" y="5065776"/>
            <a:ext cx="5230368" cy="1316736"/>
          </a:xfrm>
          <a:prstGeom prst="roundRect">
            <a:avLst>
              <a:gd name="adj" fmla="val 4167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47104" y="5230368"/>
            <a:ext cx="4718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대화가 끝나도 자료는 그대로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547104" y="5669280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대화에서도 다시 올리지 않고 바로 물어보면 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개념 간략 설명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MCP · RAG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단어의 간략한 개념만 짚고 넘어가기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230368" cy="4846320"/>
          </a:xfrm>
          <a:prstGeom prst="roundRect">
            <a:avLst>
              <a:gd name="adj" fmla="val 1132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5568" y="175564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Context Protocol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15568" y="230428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115568" y="2788920"/>
            <a:ext cx="4645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외부 서비스 · 도구와 연결되는 표준 규격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Gmail 커넥터가 </a:t>
            </a:r>
            <a:r>
              <a:rPr kumimoji="0" lang="ko-KR" alt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MCP로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연결됨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12월 Linux Foundation 산하 재단에 기증  ·  ChatGPT · Gemini · Copilot 등도 지원하는 공개 표준</a:t>
            </a:r>
          </a:p>
        </p:txBody>
      </p:sp>
      <p:sp>
        <p:nvSpPr>
          <p:cNvPr id="8" name="Shape 6"/>
          <p:cNvSpPr/>
          <p:nvPr/>
        </p:nvSpPr>
        <p:spPr>
          <a:xfrm>
            <a:off x="1115568" y="4434840"/>
            <a:ext cx="4645152" cy="1554480"/>
          </a:xfrm>
          <a:prstGeom prst="roundRect">
            <a:avLst>
              <a:gd name="adj" fmla="val 3529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461772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 USB 포트 같은 공용 규격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371600" y="5029200"/>
            <a:ext cx="4133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규격이 같아서 어떤 서비스든 같은 방식으로 연결</a:t>
            </a:r>
          </a:p>
        </p:txBody>
      </p:sp>
      <p:sp>
        <p:nvSpPr>
          <p:cNvPr id="11" name="Shape 9"/>
          <p:cNvSpPr/>
          <p:nvPr/>
        </p:nvSpPr>
        <p:spPr>
          <a:xfrm>
            <a:off x="6291072" y="1508760"/>
            <a:ext cx="5230368" cy="4846320"/>
          </a:xfrm>
          <a:prstGeom prst="roundRect">
            <a:avLst>
              <a:gd name="adj" fmla="val 1132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75564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Retrieval-Augmented Generation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83680" y="230428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</a:t>
            </a:r>
            <a:r>
              <a:rPr lang="ko-KR" altLang="en-US" sz="1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연결한 데이터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활용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583680" y="2788920"/>
            <a:ext cx="46451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연결해 온 자료를 뒤져 근거로 답하는 방식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문서를 근거로 답했는지 되짚어 볼 수 있음</a:t>
            </a:r>
          </a:p>
        </p:txBody>
      </p:sp>
      <p:sp>
        <p:nvSpPr>
          <p:cNvPr id="15" name="Shape 13"/>
          <p:cNvSpPr/>
          <p:nvPr/>
        </p:nvSpPr>
        <p:spPr>
          <a:xfrm>
            <a:off x="6583680" y="4434840"/>
            <a:ext cx="4645152" cy="1554480"/>
          </a:xfrm>
          <a:prstGeom prst="roundRect">
            <a:avLst>
              <a:gd name="adj" fmla="val 3529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9712" y="4617720"/>
            <a:ext cx="4133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비유:  도서관 사서 같은 방식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839712" y="5029200"/>
            <a:ext cx="4133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자료를 직접 찾아와 답의 근거로 삼음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연동 한눈에 보기 — 연결한 데이터에 물어보기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51560" y="17556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 폴더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051560" y="2212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Word · PDF · TXT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310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51560" y="37673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문서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3017520" cy="1280160"/>
          </a:xfrm>
          <a:prstGeom prst="roundRect">
            <a:avLst>
              <a:gd name="adj" fmla="val 428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8646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51560" y="53218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· 답장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120640" y="2651760"/>
            <a:ext cx="2651760" cy="1554480"/>
          </a:xfrm>
          <a:prstGeom prst="roundRect">
            <a:avLst>
              <a:gd name="adj" fmla="val 3529"/>
            </a:avLst>
          </a:prstGeom>
          <a:solidFill>
            <a:srgbClr val="2A2412"/>
          </a:solidFill>
          <a:ln w="1905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2852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12064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Desktop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006840" y="2651760"/>
            <a:ext cx="2377440" cy="1554480"/>
          </a:xfrm>
          <a:prstGeom prst="roundRect">
            <a:avLst>
              <a:gd name="adj" fmla="val 3529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06840" y="2880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자료를 근거로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006840" y="32735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· 답변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840480" y="2194560"/>
            <a:ext cx="1280160" cy="1234440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3749040"/>
            <a:ext cx="1280160" cy="0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3840480" y="4023360"/>
            <a:ext cx="1280160" cy="1280160"/>
          </a:xfrm>
          <a:prstGeom prst="line">
            <a:avLst/>
          </a:prstGeom>
          <a:noFill/>
          <a:ln w="19050">
            <a:solidFill>
              <a:srgbClr val="4A44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3429000"/>
            <a:ext cx="1234440" cy="0"/>
          </a:xfrm>
          <a:prstGeom prst="line">
            <a:avLst/>
          </a:prstGeom>
          <a:noFill/>
          <a:ln w="2540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017520" y="10972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연결  =  폴더 추가 · 커넥터(MCP)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00100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근거로 답한다  =  RAG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2960" y="5989320"/>
            <a:ext cx="10561320" cy="566928"/>
          </a:xfrm>
          <a:prstGeom prst="roundRect">
            <a:avLst>
              <a:gd name="adj" fmla="val 9677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98932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폴더는 '폴더 추가'로, Drive · Gmail은 커넥터(MCP)로 꽂고  —  꽂은 자료를 찾아 읽고 근거로 답한다(RAG)</a:t>
            </a:r>
          </a:p>
        </p:txBody>
      </p:sp>
      <p:sp>
        <p:nvSpPr>
          <p:cNvPr id="26" name="Shape 2"/>
          <p:cNvSpPr/>
          <p:nvPr/>
        </p:nvSpPr>
        <p:spPr>
          <a:xfrm>
            <a:off x="2432304" y="178308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A2412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7" name="Text 3"/>
          <p:cNvSpPr txBox="1"/>
          <p:nvPr/>
        </p:nvSpPr>
        <p:spPr>
          <a:xfrm>
            <a:off x="2432304" y="178308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추가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8" name="Shape 4"/>
          <p:cNvSpPr/>
          <p:nvPr/>
        </p:nvSpPr>
        <p:spPr>
          <a:xfrm>
            <a:off x="2432304" y="333756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A2412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9" name="Text 5"/>
          <p:cNvSpPr txBox="1"/>
          <p:nvPr/>
        </p:nvSpPr>
        <p:spPr>
          <a:xfrm>
            <a:off x="2432304" y="333756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 · MCP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0" name="Shape 6"/>
          <p:cNvSpPr/>
          <p:nvPr/>
        </p:nvSpPr>
        <p:spPr>
          <a:xfrm>
            <a:off x="2432304" y="489204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A2412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31" name="Text 7"/>
          <p:cNvSpPr txBox="1"/>
          <p:nvPr/>
        </p:nvSpPr>
        <p:spPr>
          <a:xfrm>
            <a:off x="2432304" y="489204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 · MCP</a:t>
            </a:r>
            <a:endParaRPr kumimoji="0" lang="ko-KR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 참고 — 2026년 10월 기준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채팅과 Cowork(파일 작업)이 하나로 합쳐져, 어느 대화에서든 파일 작업이 가능해짐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554480"/>
            <a:ext cx="10698480" cy="109728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Shape 5"/>
          <p:cNvSpPr/>
          <p:nvPr/>
        </p:nvSpPr>
        <p:spPr>
          <a:xfrm>
            <a:off x="1042416" y="186537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1042416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691640" y="15544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연결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5074920" y="1554480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'폴더 추가' → 폴더 선택 → '허용'으로 연결 끝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커넥터 설치 · 경로 입력 · 앱 재시작 없음  (예전 Filesystem 커넥터 방식은 부록)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2816352"/>
            <a:ext cx="10698480" cy="109728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1042416" y="312724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1042416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691640" y="2816352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모드 — 허용을 물을지 선택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5074920" y="2816352"/>
            <a:ext cx="6172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'자동': 알아서 진행, 위험할 때만 확인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'수동': 새 도구를 쓰기 전에 확인  →  오늘 실습은 '수동'으로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① 꽂기 (연결)  |  내 폴더 연동하기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자료 압축을 푼 폴더만 연결  ·  연구원 컴퓨터 또는 보안이 중요한 폴더는 연동 주의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600200"/>
            <a:ext cx="5230368" cy="1298448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Shape 5"/>
          <p:cNvSpPr/>
          <p:nvPr/>
        </p:nvSpPr>
        <p:spPr>
          <a:xfrm>
            <a:off x="1042416" y="20116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1042416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691640" y="1801368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데스크톱 앱에서 새 대화 열기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691640" y="2331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권한 모드를 '수동'으로 변경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3081528"/>
            <a:ext cx="5230368" cy="1298448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1042416" y="349300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1042416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691640" y="32826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 아래 '폴더 추가' 클릭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1691640" y="38130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선택 창에서 강의 자료 폴더 지정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562856"/>
            <a:ext cx="5230368" cy="1298448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1042416" y="497433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1042416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1691640" y="4764024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창에서 폴더 경로 확인 후 '허용'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1691640" y="529437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Claude는 연결한 폴더 안의 파일만 읽고 씀</a:t>
            </a:r>
          </a:p>
        </p:txBody>
      </p:sp>
      <p:sp>
        <p:nvSpPr>
          <p:cNvPr id="19" name="Shape 19"/>
          <p:cNvSpPr/>
          <p:nvPr/>
        </p:nvSpPr>
        <p:spPr>
          <a:xfrm>
            <a:off x="6291072" y="1600200"/>
            <a:ext cx="5230368" cy="155448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6547104" y="1755648"/>
            <a:ext cx="4718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연결 확인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6547104" y="2139696"/>
            <a:ext cx="47183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입력창에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"연결한 폴더에 있는 파일 목록 보여줘"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허용을 묻는 창이 뜨면 '허용'  →  파일 이름이 나오면 성공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목록이 안 나오면 '폴더 추가'로 폴더를 다시 지정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 — ②  폴더에 물어보기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허용을 묻는 창이 뜨면 내용을 확인하고 '허용' 클릭  (권한 모드 '수동' 기준)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554480"/>
            <a:ext cx="5212080" cy="132588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1005840" y="168249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이렇게 물어보세요 (프롬프트 예시)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1005840" y="204825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"연결한 폴더에서 예산 관련 파일이 있는지 찾아봐. 하위 폴더까지 다 찾아."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0632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1078992" y="319125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프롬프트 외에도 몇 가지 더 물어보기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078992" y="3593592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파일을 찾아보라고 지시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 파일을 찾아보라고 지시하는 등 자유롭게 시도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찾은 엑셀 파일을 열어 내용 요약 · 정리까지 지시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5074920"/>
            <a:ext cx="5212080" cy="1188720"/>
          </a:xfrm>
          <a:prstGeom prst="roundRect">
            <a:avLst>
              <a:gd name="adj" fmla="val 4444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1078992" y="5166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정확히는 Claude가 도구로 직접 파일을 찾아 읽는 방식(agentic search) — 찾은 자료를 근거로 답하므로 넓은 의미의 RAG로 봄</a:t>
            </a:r>
          </a:p>
        </p:txBody>
      </p:sp>
      <p:sp>
        <p:nvSpPr>
          <p:cNvPr id="12" name="Shape 12"/>
          <p:cNvSpPr/>
          <p:nvPr/>
        </p:nvSpPr>
        <p:spPr>
          <a:xfrm>
            <a:off x="6281928" y="1554480"/>
            <a:ext cx="5175504" cy="2377440"/>
          </a:xfrm>
          <a:prstGeom prst="roundRect">
            <a:avLst>
              <a:gd name="adj" fmla="val 307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6537960" y="16824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이렇게 나오면 성공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6537960" y="2084832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폴더까지 검색해 파일 이름과 위치를 알려줌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'데이터리터러시_분석' 폴더 안의</a:t>
            </a:r>
          </a:p>
          <a:p>
            <a:pPr marL="15240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'실습1_부서별_예산집행.xlsx'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'예산'으로 못 찾으면 'budget' 같은 다른 검색어로 다시 찾기도 함</a:t>
            </a:r>
          </a:p>
        </p:txBody>
      </p:sp>
      <p:sp>
        <p:nvSpPr>
          <p:cNvPr id="15" name="Shape 15"/>
          <p:cNvSpPr/>
          <p:nvPr/>
        </p:nvSpPr>
        <p:spPr>
          <a:xfrm>
            <a:off x="6281928" y="4114800"/>
            <a:ext cx="5175504" cy="2148840"/>
          </a:xfrm>
          <a:prstGeom prst="roundRect">
            <a:avLst>
              <a:gd name="adj" fmla="val 3404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6537960" y="42611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무엇을 보고 답했는지 확인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6537960" y="4663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중간의 작업 표시줄 오른쪽 '&gt;'를 눌러 펼치면 어떤 파일을 찾고 열었는지 확인 가능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미심쩍으면 "어떤 파일을 보고 답했는지 알려줘"로 근거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폴더 연결 · 실무에서 쓸 때 주의할 점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실습뿐만 아니라 실무에서도 활용해보기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55448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1078992" y="17007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폴더 연결 · 관리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1078992" y="2103120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'폴더 추가'를 반복해 필요한 폴더를 하나씩 추가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대화에서도 '폴더 추가'로 같은 폴더를 바로 다시 지정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566160"/>
            <a:ext cx="5212080" cy="1417320"/>
          </a:xfrm>
          <a:prstGeom prst="roundRect">
            <a:avLst>
              <a:gd name="adj" fmla="val 4444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1078992" y="37124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팁 — Claude 작업용 폴더 따로 만들기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078991" y="4114800"/>
            <a:ext cx="48287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맘대로 수정하면 문제가 생기면 안되는 중요 작업은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 폴더에 필요한 파일만 복사해 두고 그 폴더만 연결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원본은 그대로 두고 사본으로 작업 후</a:t>
            </a:r>
            <a:r>
              <a:rPr lang="ko-KR" alt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최종 결과를 원본에 복사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281928" y="1554480"/>
            <a:ext cx="5175504" cy="3429000"/>
          </a:xfrm>
          <a:prstGeom prst="roundRect">
            <a:avLst>
              <a:gd name="adj" fmla="val 2133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537960" y="170078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실무 보안 수칙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A89B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6537960" y="2139696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· 인증서 · 재무 자료가 있는 폴더는 연결하지 않기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연 파일은 Anthropic 서버로 전송되어 처리됨 — 내 PC에만 머무르지 않음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파일 · 계정 작업은 권한 모드를 '수동'으로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영구 삭제는 어떤 모드에서도 '허용'을 눌러야 진행 — 무엇을 지우는지 꼭 확인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파일은 미리 백업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보안 지침이 있으면 그 기준이 우선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 — Google Drive 연동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방화벽으로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되면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강사 시연  (회사 계정이 아닌 분들은 같이 실습 가능 · 다만 보안 주의)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30368" cy="3566160"/>
          </a:xfrm>
          <a:prstGeom prst="roundRect">
            <a:avLst>
              <a:gd name="adj" fmla="val 1538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연결   — 이번에는 커넥터로</a:t>
            </a:r>
          </a:p>
        </p:txBody>
      </p:sp>
      <p:sp>
        <p:nvSpPr>
          <p:cNvPr id="6" name="Shape 4"/>
          <p:cNvSpPr/>
          <p:nvPr/>
        </p:nvSpPr>
        <p:spPr>
          <a:xfrm>
            <a:off x="1097280" y="23408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664208" y="2258568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→ 커넥터 → 탐색</a:t>
            </a:r>
          </a:p>
        </p:txBody>
      </p:sp>
      <p:sp>
        <p:nvSpPr>
          <p:cNvPr id="9" name="Shape 7"/>
          <p:cNvSpPr/>
          <p:nvPr/>
        </p:nvSpPr>
        <p:spPr>
          <a:xfrm>
            <a:off x="1097280" y="298094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664208" y="2898648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Drive 옆 '+' 클릭</a:t>
            </a:r>
          </a:p>
        </p:txBody>
      </p:sp>
      <p:sp>
        <p:nvSpPr>
          <p:cNvPr id="12" name="Shape 10"/>
          <p:cNvSpPr/>
          <p:nvPr/>
        </p:nvSpPr>
        <p:spPr>
          <a:xfrm>
            <a:off x="1097280" y="36210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621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664208" y="3538728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로그인 → 권한 허용  (연결되면 체크 표시)</a:t>
            </a:r>
          </a:p>
        </p:txBody>
      </p:sp>
      <p:sp>
        <p:nvSpPr>
          <p:cNvPr id="15" name="Shape 13"/>
          <p:cNvSpPr/>
          <p:nvPr/>
        </p:nvSpPr>
        <p:spPr>
          <a:xfrm>
            <a:off x="6291072" y="1600200"/>
            <a:ext cx="5230368" cy="3566160"/>
          </a:xfrm>
          <a:prstGeom prst="roundRect">
            <a:avLst>
              <a:gd name="adj" fmla="val 1538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178308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물어보기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활용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65392" y="2377440"/>
            <a:ext cx="4681728" cy="713232"/>
          </a:xfrm>
          <a:prstGeom prst="roundRect">
            <a:avLst>
              <a:gd name="adj" fmla="val 7692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377440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"Google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Drive에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파일 목록 알려줘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65392" y="3291840"/>
            <a:ext cx="4681728" cy="713232"/>
          </a:xfrm>
          <a:prstGeom prst="roundRect">
            <a:avLst>
              <a:gd name="adj" fmla="val 7692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291840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“google drive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지난달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회의자료 중 일정 부분만 뽑아줘"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65392" y="4206240"/>
            <a:ext cx="4681728" cy="713232"/>
          </a:xfrm>
          <a:prstGeom prst="roundRect">
            <a:avLst>
              <a:gd name="adj" fmla="val 7692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4206240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latinLnBrk="0"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en-US" altLang="ko-KR" sz="13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google drive</a:t>
            </a:r>
            <a:r>
              <a:rPr lang="ko-KR" altLang="en-US" sz="13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폴더 문서들 한눈에 요약해줘"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"/>
          <p:cNvSpPr/>
          <p:nvPr/>
        </p:nvSpPr>
        <p:spPr>
          <a:xfrm>
            <a:off x="1097280" y="4261104"/>
            <a:ext cx="4681728" cy="731520"/>
          </a:xfrm>
          <a:prstGeom prst="roundRect">
            <a:avLst>
              <a:gd name="adj" fmla="val 4444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26" name="Text 3"/>
          <p:cNvSpPr txBox="1"/>
          <p:nvPr/>
        </p:nvSpPr>
        <p:spPr>
          <a:xfrm>
            <a:off x="1298448" y="4261104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한 것이 바로 MCP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Google이 만든 커넥터를 표준 규격으로 Claude에 연결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 — Gmail 연동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방화벽으로 구글 연동이 안 </a:t>
            </a:r>
            <a:r>
              <a:rPr lang="ko-KR" alt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되면</a:t>
            </a: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강사 시연  (회사 계정이 아닌 분들은 같이 실습 가능 · 다만 보안 유의)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230368" cy="3566160"/>
          </a:xfrm>
          <a:prstGeom prst="roundRect">
            <a:avLst>
              <a:gd name="adj" fmla="val 1538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꽂기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· 연결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97280" y="24323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664208" y="2377440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→ 커넥터 → 탐색</a:t>
            </a:r>
          </a:p>
        </p:txBody>
      </p:sp>
      <p:sp>
        <p:nvSpPr>
          <p:cNvPr id="9" name="Shape 7"/>
          <p:cNvSpPr/>
          <p:nvPr/>
        </p:nvSpPr>
        <p:spPr>
          <a:xfrm>
            <a:off x="1097280" y="33467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346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664208" y="3291840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Gmail 옆 '+' 클릭</a:t>
            </a:r>
          </a:p>
        </p:txBody>
      </p:sp>
      <p:sp>
        <p:nvSpPr>
          <p:cNvPr id="12" name="Shape 10"/>
          <p:cNvSpPr/>
          <p:nvPr/>
        </p:nvSpPr>
        <p:spPr>
          <a:xfrm>
            <a:off x="1097280" y="42611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664208" y="4206240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로그인 → 권한 허용  (연결되면 체크 표시)</a:t>
            </a:r>
          </a:p>
        </p:txBody>
      </p:sp>
      <p:sp>
        <p:nvSpPr>
          <p:cNvPr id="15" name="Shape 13"/>
          <p:cNvSpPr/>
          <p:nvPr/>
        </p:nvSpPr>
        <p:spPr>
          <a:xfrm>
            <a:off x="6291072" y="1600200"/>
            <a:ext cx="5230368" cy="3566160"/>
          </a:xfrm>
          <a:prstGeom prst="roundRect">
            <a:avLst>
              <a:gd name="adj" fmla="val 1538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65392" y="1783080"/>
            <a:ext cx="4681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물어보기  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· 활용</a:t>
            </a:r>
            <a:endParaRPr kumimoji="0" lang="en-US" sz="1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65392" y="2377440"/>
            <a:ext cx="4681728" cy="713232"/>
          </a:xfrm>
          <a:prstGeom prst="roundRect">
            <a:avLst>
              <a:gd name="adj" fmla="val 7692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2377440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"오늘 받은 중요 메일 요약해줘"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565392" y="3291840"/>
            <a:ext cx="4681728" cy="713232"/>
          </a:xfrm>
          <a:prstGeom prst="roundRect">
            <a:avLst>
              <a:gd name="adj" fmla="val 7692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291840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"민원인 홍길동에게 처리완료 답장 초안 써줘"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65392" y="4206240"/>
            <a:ext cx="4681728" cy="713232"/>
          </a:xfrm>
          <a:prstGeom prst="roundRect">
            <a:avLst>
              <a:gd name="adj" fmla="val 7692"/>
            </a:avLst>
          </a:prstGeom>
          <a:solidFill>
            <a:srgbClr val="221E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4206240"/>
            <a:ext cx="42793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주 예산 관련 메일 찾아줘"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— '수동' 모드면 메일은 사람이 허용해야 발송됨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8월부터 Claude가 Gmail에서 답장 · 발송 · 전달까지 가능 (유료 플랜)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371600"/>
            <a:ext cx="10698480" cy="1005840"/>
          </a:xfrm>
          <a:prstGeom prst="roundRect">
            <a:avLst>
              <a:gd name="adj" fmla="val 8000"/>
            </a:avLst>
          </a:prstGeom>
          <a:solidFill>
            <a:srgbClr val="2A2412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822960" y="13716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작업 전 입력창 아래 권한 모드를 '수동'으로 변경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계정만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＇자동</a:t>
            </a:r>
            <a:r>
              <a:rPr lang="en-US" altLang="ko-KR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＇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권한이면 메일 보낼지를 Claude가 판단 — 확인 없이 발송될 수 있음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2606040"/>
            <a:ext cx="3291840" cy="2377440"/>
          </a:xfrm>
          <a:prstGeom prst="roundRect">
            <a:avLst>
              <a:gd name="adj" fmla="val 307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Shape 7"/>
          <p:cNvSpPr/>
          <p:nvPr/>
        </p:nvSpPr>
        <p:spPr>
          <a:xfrm>
            <a:off x="219456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219456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100584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Claude가 답장 작성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1051560" y="4041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 내용을 읽고 답장 문구를 만듦</a:t>
            </a:r>
          </a:p>
        </p:txBody>
      </p:sp>
      <p:sp>
        <p:nvSpPr>
          <p:cNvPr id="11" name="Arrow 11"/>
          <p:cNvSpPr/>
          <p:nvPr/>
        </p:nvSpPr>
        <p:spPr>
          <a:xfrm>
            <a:off x="4187952" y="374904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2" name="Shape 12"/>
          <p:cNvSpPr/>
          <p:nvPr/>
        </p:nvSpPr>
        <p:spPr>
          <a:xfrm>
            <a:off x="4535424" y="2606040"/>
            <a:ext cx="3291840" cy="2377440"/>
          </a:xfrm>
          <a:prstGeom prst="roundRect">
            <a:avLst>
              <a:gd name="adj" fmla="val 307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Shape 13"/>
          <p:cNvSpPr/>
          <p:nvPr/>
        </p:nvSpPr>
        <p:spPr>
          <a:xfrm>
            <a:off x="5907024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590702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5" name="Text 15"/>
          <p:cNvSpPr txBox="1"/>
          <p:nvPr/>
        </p:nvSpPr>
        <p:spPr>
          <a:xfrm>
            <a:off x="4718304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 전 허용 요청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4764024" y="4041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'Claude가 Gmail에서 이메일을 보내려고 합니다' 창에서 받는 사람 · 내용 검토</a:t>
            </a:r>
          </a:p>
        </p:txBody>
      </p:sp>
      <p:sp>
        <p:nvSpPr>
          <p:cNvPr id="17" name="Arrow 17"/>
          <p:cNvSpPr/>
          <p:nvPr/>
        </p:nvSpPr>
        <p:spPr>
          <a:xfrm>
            <a:off x="7900416" y="3749040"/>
            <a:ext cx="274320" cy="0"/>
          </a:xfrm>
          <a:prstGeom prst="line">
            <a:avLst/>
          </a:prstGeom>
          <a:noFill/>
          <a:ln w="19050">
            <a:solidFill>
              <a:srgbClr val="FFD733"/>
            </a:solidFill>
            <a:prstDash val="solid"/>
            <a:tailEnd type="triangle"/>
          </a:ln>
        </p:spPr>
      </p:sp>
      <p:sp>
        <p:nvSpPr>
          <p:cNvPr id="18" name="Shape 18"/>
          <p:cNvSpPr/>
          <p:nvPr/>
        </p:nvSpPr>
        <p:spPr>
          <a:xfrm>
            <a:off x="8247888" y="2606040"/>
            <a:ext cx="3291840" cy="2377440"/>
          </a:xfrm>
          <a:prstGeom prst="roundRect">
            <a:avLst>
              <a:gd name="adj" fmla="val 307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9"/>
          <p:cNvSpPr/>
          <p:nvPr/>
        </p:nvSpPr>
        <p:spPr>
          <a:xfrm>
            <a:off x="9619488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9619488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8430768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'허용'을 눌러야 발송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8476488" y="4041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허용하지 않으면 발송되지 않음  ·  초안만 원하면 "초안만 작성해줘"라고 지시</a:t>
            </a:r>
          </a:p>
        </p:txBody>
      </p:sp>
      <p:sp>
        <p:nvSpPr>
          <p:cNvPr id="23" name="Shape 23"/>
          <p:cNvSpPr/>
          <p:nvPr/>
        </p:nvSpPr>
        <p:spPr>
          <a:xfrm>
            <a:off x="822960" y="5257800"/>
            <a:ext cx="10698480" cy="1097280"/>
          </a:xfrm>
          <a:prstGeom prst="roundRect">
            <a:avLst>
              <a:gd name="adj" fmla="val 4444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1097280" y="525780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설정 위치  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→ 커넥터 → 내 항목 → Gmail → 도구 권한  (보내기 · 답장 · 전달의 기본값은 '승인 필요')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발송을 아예 막으려면 Send email message · Reply to email · Forward email을 '차단됨'으로 — 모든 모드에서 실행 안 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3가지만 연동 실습했지만 수많은 툴에 연동 가능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밖에도 Slack · GitHub 등 수천 개의 커넥터를 같은 방식으로 연동 가능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463040"/>
            <a:ext cx="10698480" cy="91440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5" name="Text 5"/>
          <p:cNvSpPr txBox="1"/>
          <p:nvPr/>
        </p:nvSpPr>
        <p:spPr>
          <a:xfrm>
            <a:off x="1097280" y="14630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곳   </a:t>
            </a: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→ 커넥터 → 탐색 → 돋보기로 검색 → '+'로 연결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연결한 커넥터는 '내 항목'에서 확인  ·  대화 중 필요한 커넥터를 Claude가 먼저 제안하기도 함</a:t>
            </a:r>
          </a:p>
        </p:txBody>
      </p:sp>
      <p:sp>
        <p:nvSpPr>
          <p:cNvPr id="6" name="Shape 6"/>
          <p:cNvSpPr/>
          <p:nvPr/>
        </p:nvSpPr>
        <p:spPr>
          <a:xfrm>
            <a:off x="822960" y="260604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7" name="Text 7"/>
          <p:cNvSpPr txBox="1"/>
          <p:nvPr/>
        </p:nvSpPr>
        <p:spPr>
          <a:xfrm>
            <a:off x="1078992" y="276148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· 소통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1078992" y="3255264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Notion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Atlassian (Jira · Confluence)</a:t>
            </a:r>
          </a:p>
        </p:txBody>
      </p:sp>
      <p:sp>
        <p:nvSpPr>
          <p:cNvPr id="9" name="Shape 9"/>
          <p:cNvSpPr/>
          <p:nvPr/>
        </p:nvSpPr>
        <p:spPr>
          <a:xfrm>
            <a:off x="4471416" y="260604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Text 10"/>
          <p:cNvSpPr txBox="1"/>
          <p:nvPr/>
        </p:nvSpPr>
        <p:spPr>
          <a:xfrm>
            <a:off x="4727448" y="276148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· 오피스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1" name="Text 11"/>
          <p:cNvSpPr txBox="1"/>
          <p:nvPr/>
        </p:nvSpPr>
        <p:spPr>
          <a:xfrm>
            <a:off x="4727448" y="3255264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Calendar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365</a:t>
            </a:r>
          </a:p>
          <a:p>
            <a:pPr marL="15240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(Outlook · Teams · OneDrive 등)</a:t>
            </a:r>
          </a:p>
        </p:txBody>
      </p:sp>
      <p:sp>
        <p:nvSpPr>
          <p:cNvPr id="12" name="Shape 12"/>
          <p:cNvSpPr/>
          <p:nvPr/>
        </p:nvSpPr>
        <p:spPr>
          <a:xfrm>
            <a:off x="8119872" y="2606040"/>
            <a:ext cx="3401568" cy="2011680"/>
          </a:xfrm>
          <a:prstGeom prst="roundRect">
            <a:avLst>
              <a:gd name="adj" fmla="val 3636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3"/>
          <p:cNvSpPr txBox="1"/>
          <p:nvPr/>
        </p:nvSpPr>
        <p:spPr>
          <a:xfrm>
            <a:off x="8375904" y="2761488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· 디자인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8375904" y="3255264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Figma</a:t>
            </a:r>
          </a:p>
          <a:p>
            <a:pPr marL="152400" marR="0" lvl="0" indent="-1524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Canva</a:t>
            </a:r>
          </a:p>
        </p:txBody>
      </p:sp>
      <p:sp>
        <p:nvSpPr>
          <p:cNvPr id="15" name="Shape 15"/>
          <p:cNvSpPr/>
          <p:nvPr/>
        </p:nvSpPr>
        <p:spPr>
          <a:xfrm>
            <a:off x="822960" y="4846320"/>
            <a:ext cx="10698480" cy="1097280"/>
          </a:xfrm>
          <a:prstGeom prst="roundRect">
            <a:avLst>
              <a:gd name="adj" fmla="val 4444"/>
            </a:avLst>
          </a:prstGeom>
          <a:solidFill>
            <a:srgbClr val="221E10"/>
          </a:solidFill>
          <a:ln w="12700">
            <a:solidFill>
              <a:srgbClr val="8A7C42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1097280" y="484632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순서는 오늘과 동일  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'+' 클릭 → 계정 로그인 → 권한 허용</a:t>
            </a:r>
          </a:p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· 기업 플랜은 관리자가 먼저 커넥터를 허용해야 연결 가능  ·  회사 계정은 기관 보안 정책부터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— '폴더 추가' 버튼이 안 보일 때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20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사용자라 아직 최신 업데이트 안 되었을 경우</a:t>
            </a:r>
            <a:r>
              <a:rPr lang="en-US" altLang="ko-KR" sz="2000" b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02920" y="804672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 · 앱 버전에 따라 아직 이전 화면일 수 있음  ·  아래 순서대로 확인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1508760"/>
            <a:ext cx="10698480" cy="91440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5" name="Shape 5"/>
          <p:cNvSpPr/>
          <p:nvPr/>
        </p:nvSpPr>
        <p:spPr>
          <a:xfrm>
            <a:off x="1042416" y="17282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1042416" y="1728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7" name="Text 7"/>
          <p:cNvSpPr txBox="1"/>
          <p:nvPr/>
        </p:nvSpPr>
        <p:spPr>
          <a:xfrm>
            <a:off x="1691640" y="1508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앱을 최신 버전으로 업데이트 후 재실행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Text 8"/>
          <p:cNvSpPr txBox="1"/>
          <p:nvPr/>
        </p:nvSpPr>
        <p:spPr>
          <a:xfrm>
            <a:off x="5257800" y="1508760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Windows는 최신 버전이어야 파일 작업 기능 사용 가능</a:t>
            </a:r>
          </a:p>
        </p:txBody>
      </p:sp>
      <p:sp>
        <p:nvSpPr>
          <p:cNvPr id="9" name="Shape 9"/>
          <p:cNvSpPr/>
          <p:nvPr/>
        </p:nvSpPr>
        <p:spPr>
          <a:xfrm>
            <a:off x="822960" y="2587752"/>
            <a:ext cx="10698480" cy="91440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1042416" y="280720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1042416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2" name="Text 12"/>
          <p:cNvSpPr txBox="1"/>
          <p:nvPr/>
        </p:nvSpPr>
        <p:spPr>
          <a:xfrm>
            <a:off x="1691640" y="258775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'채팅 / Cowork' 전환 버튼이 보이면 Cowork 선택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5257800" y="2587752"/>
            <a:ext cx="5989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화면에서 작업할 폴더를 선택해 연결  →  이후 사용법은 동일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3666744"/>
            <a:ext cx="10698480" cy="1737360"/>
          </a:xfrm>
          <a:prstGeom prst="roundRect">
            <a:avLst>
              <a:gd name="adj" fmla="val 4210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5"/>
          <p:cNvSpPr/>
          <p:nvPr/>
        </p:nvSpPr>
        <p:spPr>
          <a:xfrm>
            <a:off x="1042416" y="42976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1042416" y="4297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A181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kumimoji="0" lang="ko-KR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1A1810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1691640" y="3666744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없으면 Filesystem 커넥터로 연결 (이전 방식)</a:t>
            </a:r>
            <a:endParaRPr kumimoji="0" lang="ko-KR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257800" y="3666744"/>
            <a:ext cx="5989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지정 → 커넥터 → 탐색에서 'Filesystem' 검색 → + 눌러 설치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(이전 화면은 '추가 → 커넥터 둘러보기' · 목록에 없으면 설정 → 확장 프로그램)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Allowed Directories에 폴더 경로 추가 → 저장 → '사용 중'으로 켜기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종료 후 재시작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질문할 때 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"filesystem으로 연결한 폴더에서 …"</a:t>
            </a:r>
            <a:r>
              <a:rPr kumimoji="0" lang="ko-KR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EDE8D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지정</a:t>
            </a:r>
          </a:p>
        </p:txBody>
      </p:sp>
      <p:sp>
        <p:nvSpPr>
          <p:cNvPr id="19" name="Shape 19"/>
          <p:cNvSpPr/>
          <p:nvPr/>
        </p:nvSpPr>
        <p:spPr>
          <a:xfrm>
            <a:off x="822960" y="5568696"/>
            <a:ext cx="10698480" cy="777240"/>
          </a:xfrm>
          <a:prstGeom prst="roundRect">
            <a:avLst>
              <a:gd name="adj" fmla="val 4444"/>
            </a:avLst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1097280" y="5568696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A89B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Filesystem 방식 경로 참고  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경로에 '바탕 화면'처럼 한글 · 띄어쓰기가 있으면 오류가 난 사례 있음 → 영문 경로로 시도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1546</Words>
  <Application>Microsoft Office PowerPoint</Application>
  <PresentationFormat>와이드스크린</PresentationFormat>
  <Paragraphs>205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think</dc:creator>
  <cp:lastModifiedBy>think</cp:lastModifiedBy>
  <cp:revision>1</cp:revision>
  <dcterms:created xsi:type="dcterms:W3CDTF">2026-10-21T20:36:25Z</dcterms:created>
  <dcterms:modified xsi:type="dcterms:W3CDTF">2026-10-28T07:09:38Z</dcterms:modified>
</cp:coreProperties>
</file>