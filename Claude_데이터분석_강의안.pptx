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5"/>
  </p:notesMasterIdLst>
  <p:sldIdLst>
    <p:sldId id="270" r:id="rId2"/>
    <p:sldId id="271" r:id="rId3"/>
    <p:sldId id="272" r:id="rId4"/>
    <p:sldId id="273" r:id="rId5"/>
    <p:sldId id="275" r:id="rId6"/>
    <p:sldId id="276" r:id="rId7"/>
    <p:sldId id="278" r:id="rId8"/>
    <p:sldId id="279" r:id="rId9"/>
    <p:sldId id="312" r:id="rId10"/>
    <p:sldId id="277" r:id="rId11"/>
    <p:sldId id="274" r:id="rId12"/>
    <p:sldId id="280" r:id="rId13"/>
    <p:sldId id="281" r:id="rId14"/>
    <p:sldId id="282" r:id="rId15"/>
    <p:sldId id="283" r:id="rId16"/>
    <p:sldId id="284" r:id="rId17"/>
    <p:sldId id="285" r:id="rId18"/>
    <p:sldId id="286" r:id="rId19"/>
    <p:sldId id="287" r:id="rId20"/>
    <p:sldId id="288" r:id="rId21"/>
    <p:sldId id="289" r:id="rId22"/>
    <p:sldId id="290" r:id="rId23"/>
    <p:sldId id="291" r:id="rId24"/>
    <p:sldId id="292" r:id="rId25"/>
    <p:sldId id="293" r:id="rId26"/>
    <p:sldId id="294" r:id="rId27"/>
    <p:sldId id="295" r:id="rId28"/>
    <p:sldId id="296" r:id="rId29"/>
    <p:sldId id="297" r:id="rId30"/>
    <p:sldId id="298" r:id="rId31"/>
    <p:sldId id="299" r:id="rId32"/>
    <p:sldId id="300" r:id="rId33"/>
    <p:sldId id="301" r:id="rId34"/>
    <p:sldId id="302" r:id="rId35"/>
    <p:sldId id="303" r:id="rId36"/>
    <p:sldId id="304" r:id="rId37"/>
    <p:sldId id="305" r:id="rId38"/>
    <p:sldId id="306" r:id="rId39"/>
    <p:sldId id="307" r:id="rId40"/>
    <p:sldId id="308" r:id="rId41"/>
    <p:sldId id="309" r:id="rId42"/>
    <p:sldId id="310" r:id="rId43"/>
    <p:sldId id="311" r:id="rId4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BA2A82-88CA-4559-B848-4062629501A4}" type="datetimeFigureOut">
              <a:rPr lang="ko-KR" altLang="en-US" smtClean="0"/>
              <a:t>2026-10-28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00CFF8-268A-4E40-B9B5-1C224A5FF9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1003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67917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6605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128016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0" b="1" i="0" u="none" strike="noStrike" kern="1200" cap="none" spc="0" normalizeH="0" baseline="0" noProof="0" dirty="0">
                <a:ln>
                  <a:noFill/>
                </a:ln>
                <a:solidFill>
                  <a:srgbClr val="2E2A18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kumimoji="0" lang="en-US" sz="1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822960" y="338328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Claude를 이용한 데이터 분석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822960" y="42519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Claude가 어느 수준까지 분석해주는지 실습해보기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AI에 대한 기대치는 80%까지만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822960" y="1463040"/>
            <a:ext cx="10698480" cy="2377440"/>
          </a:xfrm>
          <a:prstGeom prst="roundRect">
            <a:avLst>
              <a:gd name="adj" fmla="val 2105"/>
            </a:avLst>
          </a:prstGeom>
          <a:solidFill>
            <a:srgbClr val="1A1810"/>
          </a:solidFill>
          <a:ln w="12700">
            <a:solidFill>
              <a:srgbClr val="8A7C4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188720" y="1664208"/>
            <a:ext cx="996696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marR="0" lvl="0" indent="-15240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AI는 80%까지 데려다주는 훌륭한 초안 도구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52400" marR="0" lvl="0" indent="-15240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나머지 20% — 사람이 함정을 알아채고 검증하는 일 필요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52400" marR="0" lvl="0" indent="-15240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DE8D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2026.9 채팅·Cowork 통합으로 일반 대화에서도 큰 작업을 맡기면 Claude가 스스로 단계를 밟아 끝까지 진행 → AI가 알아서 하는 범위가 넓어질수록 검증할 지점을 사람이 미리 정해 두는 일이 더 중요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22960" y="4114800"/>
            <a:ext cx="10698480" cy="2103120"/>
          </a:xfrm>
          <a:prstGeom prst="roundRect">
            <a:avLst>
              <a:gd name="adj" fmla="val 2105"/>
            </a:avLst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88720" y="4343400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강의의 목표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1188720" y="4800600"/>
            <a:ext cx="9966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단순 조작법이 아니라, Claude를 이용해서 데이터를 정확히 읽고 · 가공하고 · 검증하는 능력을 키우는 데이터 리터러시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상황에 무엇을 쓰는가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02920" y="804672"/>
            <a:ext cx="11201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Claude로 데이터를 다루는 5가지 방법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8" name="Table 0"/>
          <p:cNvGraphicFramePr>
            <a:graphicFrameLocks noGrp="1"/>
          </p:cNvGraphicFramePr>
          <p:nvPr/>
        </p:nvGraphicFramePr>
        <p:xfrm>
          <a:off x="822960" y="1600200"/>
          <a:ext cx="10698480" cy="4133088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방법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이럴 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강점 / 한계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기본 프롬프트 창에서 실행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대부분의 분석 (1순위)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Python을 코드로 실행 → 정밀·재현 가능. 차트를 인터랙티브 아티팩트로 즉시 렌더링 (설정 › 기능의 '클라우드에서 코드 실행'이 켜져 있어야 함)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Projects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여러 파일·여러 탭이 얽힌 큰 작업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큰 컨텍스트로 복잡한 워크북 맥락 유지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결과물을 파일로 생성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정제된 결과물을 파일로 받기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정리된 시트(xlsx)·요약본·HTML 대시보드를 새 파일로 출력. 2026.9부터 문서·슬라이드로 바로 만들어 Word·PDF·PowerPoint로 내보내기 가능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51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Claude for Excel (애드인)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셀을 직접 만지고 Excel 안에서 끝내기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행정 친화적, 셀 단위 인용으로 근거 추적. 2026.5 정식 출시(Pro·Max·Team·Enterprise 플랜에 포함 · AppSource). 사용량 소모 빠름 · IT 승인 필요 가능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 / Claude Code · Skills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분석을 반복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분석을 재사용 가능한 스크립트 자산으로. 코딩 없이는 Skills에 분석 절차를 저장해 반복 가능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데이터 분석할 때도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분석가의 순서를 그대로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02920" y="804672"/>
            <a:ext cx="11201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점검 → 클리닝 → 탐색 → 분석 → 검증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22960" y="1645920"/>
            <a:ext cx="2029968" cy="3794760"/>
          </a:xfrm>
          <a:prstGeom prst="roundRect">
            <a:avLst>
              <a:gd name="adj" fmla="val 2703"/>
            </a:avLst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00200" y="1847088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600200" y="18470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A181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22960" y="2450592"/>
            <a:ext cx="202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점검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978408" y="2971800"/>
            <a:ext cx="17190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구조·행수·결측·자료형·이상값 파악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978408" y="4297680"/>
            <a:ext cx="17190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DE8D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전에 무엇이 잘못됐는지 확인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999232" y="1645920"/>
            <a:ext cx="2029968" cy="3794760"/>
          </a:xfrm>
          <a:prstGeom prst="roundRect">
            <a:avLst>
              <a:gd name="adj" fmla="val 2703"/>
            </a:avLst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76472" y="1847088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776472" y="18470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A181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2999232" y="2450592"/>
            <a:ext cx="202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클리닝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3154680" y="2971800"/>
            <a:ext cx="17190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결측 처리·표기 통일·이상치 식별/제외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3154680" y="4297680"/>
            <a:ext cx="17190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DE8D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쓰레기를 넣으면 쓰레기가 나옴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175504" y="1645920"/>
            <a:ext cx="2029968" cy="3794760"/>
          </a:xfrm>
          <a:prstGeom prst="roundRect">
            <a:avLst>
              <a:gd name="adj" fmla="val 2703"/>
            </a:avLst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52744" y="1847088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52744" y="18470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A181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5175504" y="2450592"/>
            <a:ext cx="202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탐색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5330952" y="2971800"/>
            <a:ext cx="17190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분포·요약통계·관계 훑기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5330952" y="4297680"/>
            <a:ext cx="17190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DE8D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분석 전 데이터의 '감' 잡기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7351776" y="1645920"/>
            <a:ext cx="2029968" cy="3794760"/>
          </a:xfrm>
          <a:prstGeom prst="roundRect">
            <a:avLst>
              <a:gd name="adj" fmla="val 2703"/>
            </a:avLst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29016" y="1847088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129016" y="18470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A181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7351776" y="2450592"/>
            <a:ext cx="202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7507224" y="2971800"/>
            <a:ext cx="17190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질문에 답하는 집계·통계·시각화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7507224" y="4297680"/>
            <a:ext cx="17190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DE8D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여기서 인사이트 산출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9528048" y="1645920"/>
            <a:ext cx="2029968" cy="3794760"/>
          </a:xfrm>
          <a:prstGeom prst="roundRect">
            <a:avLst>
              <a:gd name="adj" fmla="val 2703"/>
            </a:avLst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305288" y="1847088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305288" y="18470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A181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 txBox="1"/>
          <p:nvPr/>
        </p:nvSpPr>
        <p:spPr>
          <a:xfrm>
            <a:off x="9528048" y="2450592"/>
            <a:ext cx="202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 txBox="1"/>
          <p:nvPr/>
        </p:nvSpPr>
        <p:spPr>
          <a:xfrm>
            <a:off x="9683496" y="2971800"/>
            <a:ext cx="17190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수치를 수식·코드로 직접 재확인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 txBox="1"/>
          <p:nvPr/>
        </p:nvSpPr>
        <p:spPr>
          <a:xfrm>
            <a:off x="9683496" y="4297680"/>
            <a:ext cx="17190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DE8D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AI의 계산·해석 실수 검증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822960" y="5806440"/>
            <a:ext cx="10698480" cy="731520"/>
          </a:xfrm>
          <a:prstGeom prst="roundRect">
            <a:avLst>
              <a:gd name="adj" fmla="val 7500"/>
            </a:avLst>
          </a:prstGeom>
          <a:solidFill>
            <a:srgbClr val="221E10"/>
          </a:solidFill>
          <a:ln w="12700">
            <a:solidFill>
              <a:srgbClr val="8A7C4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97280" y="580644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5단계는 이후 모든 실습에서 반복됨. 실습마다 '몇 단계를 하고 있는지'를 의식하면 흐름을 놓치지 않음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1737360"/>
            <a:ext cx="2560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0" b="1" i="0" u="none" strike="noStrike" kern="1200" cap="none" spc="0" normalizeH="0" baseline="0" noProof="0" dirty="0">
                <a:ln>
                  <a:noFill/>
                </a:ln>
                <a:solidFill>
                  <a:srgbClr val="2E2A18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kumimoji="0" lang="en-US" sz="1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822960" y="324612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데이터리터러시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2600" b="1" i="0" u="none" strike="noStrike" kern="1200" cap="none" spc="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822960" y="434340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 자료 '데이터리터러시_분석' 폴더에 파일명 번호와 실습 번호가 동일함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6개 실습 — 함께 제공되는 파일을 그대로 사용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22" name="Table 0"/>
          <p:cNvGraphicFramePr>
            <a:graphicFrameLocks noGrp="1"/>
          </p:cNvGraphicFramePr>
          <p:nvPr/>
        </p:nvGraphicFramePr>
        <p:xfrm>
          <a:off x="822960" y="1463040"/>
          <a:ext cx="10698480" cy="4407408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실습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 파일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핵심 학습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DF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실습1_부서별_예산집행.xlsx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점검·클리닝: 이상치 / 결측 / 표기불일치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DF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실습2_직원_급여성과.xlsx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평균의 함정 → 중앙값·분포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DF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실습3_논문_연구비.csv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상관 ≠ 인과, 분야별 비교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DF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실습4a_회원.csv / 실습4b_대출기록.csv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 가공: 조인·정합성·파생변수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DF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실습5_월별_서비스이용.csv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시계열 맥락 + 인터랙티브 대시보드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DF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실습6_서비스만족도_설문.csv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비정형→정형: 자유응답 코딩 + 환각·재현성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제공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02920" y="804672"/>
            <a:ext cx="11201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실습은 빠른 진행과 사용량 절약을 위해 Sonnet 로 시작하고, Opus 는 결과 비교용으로 사용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22960" y="1508760"/>
            <a:ext cx="5230368" cy="2743200"/>
          </a:xfrm>
          <a:prstGeom prst="roundRect">
            <a:avLst>
              <a:gd name="adj" fmla="val 2105"/>
            </a:avLst>
          </a:prstGeom>
          <a:solidFill>
            <a:srgbClr val="1A1810"/>
          </a:solidFill>
          <a:ln w="12700">
            <a:solidFill>
              <a:srgbClr val="8A7C4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1645920"/>
            <a:ext cx="4681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Sonnet</a:t>
            </a: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EDE8D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간단한 작업에 가장 효율적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097280" y="2148840"/>
            <a:ext cx="468172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marR="0" lvl="0" indent="-15240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빠른 응답, 적은 사용량 — 오늘 실습의 기본 모델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52400" marR="0" lvl="0" indent="-15240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문서·스프레드시트처럼 범위가 분명한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작업에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강점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291072" y="1508760"/>
            <a:ext cx="5230368" cy="2743200"/>
          </a:xfrm>
          <a:prstGeom prst="roundRect">
            <a:avLst>
              <a:gd name="adj" fmla="val 2105"/>
            </a:avLst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65392" y="1645920"/>
            <a:ext cx="4681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Opus </a:t>
            </a: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EDE8D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복잡한 작업과 일상 업무를 위해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565392" y="2148840"/>
            <a:ext cx="468172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marR="0" lvl="0" indent="-15240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복잡한 분석, 여러 단계에 걸친 긴 작업, 정답이 정해지지 않은 문제에 강점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52400" marR="0" lvl="0" indent="-15240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Sonnet 결과가 아쉬우면 같은 프롬프트를 Opus로 다시 실행해 비교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22960" y="4434840"/>
            <a:ext cx="10698480" cy="868680"/>
          </a:xfrm>
          <a:prstGeom prst="roundRect">
            <a:avLst>
              <a:gd name="adj" fmla="val 2105"/>
            </a:avLst>
          </a:prstGeom>
          <a:solidFill>
            <a:srgbClr val="221E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97280" y="4434840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Haiku 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가장 빠르고 저렴한 경량 모델. 대량·단순 작업용이라 여러 단계를 거치는 오늘 실습에서는 제외 (이전 세대 Haiku 4.5는 실습을 못 따라오는 경우가 많았음)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22960" y="5440680"/>
            <a:ext cx="10698480" cy="1051560"/>
          </a:xfrm>
          <a:prstGeom prst="roundRect">
            <a:avLst>
              <a:gd name="adj" fmla="val 2105"/>
            </a:avLst>
          </a:prstGeom>
          <a:solidFill>
            <a:srgbClr val="221E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97280" y="5440680"/>
            <a:ext cx="10149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Fable 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가장 어려운 과제용 최상위 모델. Free는 사용 불가, Pro 등 기본 요금제는 별도 사용 크레딧(종량 과금) 필요, Max 등 상위 요금제는 주간 한도의 50%까지 사용 가능 →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실습에서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제외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선택 — Sonnet 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시작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02920" y="804672"/>
            <a:ext cx="11201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빠른 실습 시작과 사용량 절약을 위해 Sonnet  사용하고, </a:t>
            </a:r>
            <a:r>
              <a:rPr kumimoji="0" lang="en-US" sz="135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중간에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35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Opus로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바꾸며 결과가 어떻게 다른지 확인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22960" y="1554480"/>
            <a:ext cx="5266944" cy="3688665"/>
          </a:xfrm>
          <a:prstGeom prst="roundRect">
            <a:avLst>
              <a:gd name="adj" fmla="val 2105"/>
            </a:avLst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pic>
        <p:nvPicPr>
          <p:cNvPr id="5" name="Image 3" descr="claude.ai model menu with effort submenu (2026.10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1627632"/>
            <a:ext cx="5120640" cy="3542361"/>
          </a:xfrm>
          <a:prstGeom prst="rect">
            <a:avLst/>
          </a:prstGeom>
        </p:spPr>
      </p:pic>
      <p:sp>
        <p:nvSpPr>
          <p:cNvPr id="7" name="Shape 5"/>
          <p:cNvSpPr/>
          <p:nvPr/>
        </p:nvSpPr>
        <p:spPr>
          <a:xfrm>
            <a:off x="6400800" y="1554480"/>
            <a:ext cx="5120640" cy="1783080"/>
          </a:xfrm>
          <a:prstGeom prst="roundRect">
            <a:avLst>
              <a:gd name="adj" fmla="val 2105"/>
            </a:avLst>
          </a:prstGeom>
          <a:solidFill>
            <a:srgbClr val="1A1810"/>
          </a:solidFill>
          <a:ln w="12700">
            <a:solidFill>
              <a:srgbClr val="8A7C4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29400" y="168249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 모델 바꾸기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629400" y="2048256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marR="0" lvl="0" indent="-1524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입력창 오른쪽 아래의 모델 이름 클릭 → 목록에서 선택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52400" marR="0" lvl="0" indent="-1524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응답부터 적용 — 한 대화 안에서 Sonnet ↔ Opus 비교 가능 (Opus는 유료 요금제만)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52400" marR="0" lvl="0" indent="-1524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'더 많은 모델'은 이전 세대 목록 — 실습에서 사용 안 함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00800" y="3474720"/>
            <a:ext cx="5120640" cy="1783080"/>
          </a:xfrm>
          <a:prstGeom prst="roundRect">
            <a:avLst>
              <a:gd name="adj" fmla="val 2105"/>
            </a:avLst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29400" y="360273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 노력 (Effort)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6629400" y="3968496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marR="0" lvl="0" indent="-1524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낮음~최대 5단계. 높을수록 답이 꼼꼼해지지만 느려지고 사용량 한도를 더 빨리 소모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52400" marR="0" lvl="0" indent="-1524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실습은 '추천' 표시가 붙은 기본 단계 그대로 사용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전 준비 — 코드 실행 설정 · 파일 올리기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02920" y="804672"/>
            <a:ext cx="11201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Claude가 Python으로 계산하고 차트·파일을 만들려면 '클라우드에서 코드 실행'이 켜져 있어야 함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22960" y="1554480"/>
            <a:ext cx="5815584" cy="4142077"/>
          </a:xfrm>
          <a:prstGeom prst="roundRect">
            <a:avLst>
              <a:gd name="adj" fmla="val 2105"/>
            </a:avLst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pic>
        <p:nvPicPr>
          <p:cNvPr id="5" name="Image 3" descr="claude.ai settings &gt; capabilities &gt; cloud code execut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1627632"/>
            <a:ext cx="5669280" cy="3995773"/>
          </a:xfrm>
          <a:prstGeom prst="rect">
            <a:avLst/>
          </a:prstGeom>
        </p:spPr>
      </p:pic>
      <p:sp>
        <p:nvSpPr>
          <p:cNvPr id="6" name="Text 4"/>
          <p:cNvSpPr txBox="1"/>
          <p:nvPr/>
        </p:nvSpPr>
        <p:spPr>
          <a:xfrm>
            <a:off x="822960" y="5787997"/>
            <a:ext cx="5815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EDE8D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 › 기능 화면 — 검색으로 이동하면 해당 항목이 강조 표시됨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912864" y="1554480"/>
            <a:ext cx="4608576" cy="1874520"/>
          </a:xfrm>
          <a:prstGeom prst="roundRect">
            <a:avLst>
              <a:gd name="adj" fmla="val 2105"/>
            </a:avLst>
          </a:prstGeom>
          <a:solidFill>
            <a:srgbClr val="1A1810"/>
          </a:solidFill>
          <a:ln w="12700">
            <a:solidFill>
              <a:srgbClr val="8A7C4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141464" y="1682496"/>
            <a:ext cx="4151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 확인 경로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7141464" y="2048256"/>
            <a:ext cx="415137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marR="0" lvl="0" indent="-1524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왼쪽 아래 이름 → 설정 → 기능 → '클라우드에서 코드 실행' 켜기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52400" marR="0" lvl="0" indent="-1524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 창 검색창에 '코드 실행'을 입력하면 바로 이동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52400" marR="0" lvl="0" indent="-1524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꺼져 있으면 코드 실행·파일 생성·아티팩트가 모두 안 됨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912864" y="3566160"/>
            <a:ext cx="4608576" cy="1371600"/>
          </a:xfrm>
          <a:prstGeom prst="roundRect">
            <a:avLst>
              <a:gd name="adj" fmla="val 2105"/>
            </a:avLst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41464" y="3694176"/>
            <a:ext cx="4151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 요금제별 기본값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7141464" y="4059936"/>
            <a:ext cx="4151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marR="0" lvl="0" indent="-1524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Free·Pro·Max : 기본으로 켜져 있음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52400" marR="0" lvl="0" indent="-1524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Team·Enterprise : 관리자가 끌 수 있음 → 꺼져 있으면 조직 관리자에게 요청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912864" y="5074920"/>
            <a:ext cx="4608576" cy="1188720"/>
          </a:xfrm>
          <a:prstGeom prst="roundRect">
            <a:avLst>
              <a:gd name="adj" fmla="val 2105"/>
            </a:avLst>
          </a:prstGeom>
          <a:solidFill>
            <a:srgbClr val="221E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141464" y="5202936"/>
            <a:ext cx="4151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 파일 올리기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7141464" y="5568696"/>
            <a:ext cx="41513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marR="0" lvl="0" indent="-1524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입력창 왼쪽 '+' → '파일 업로드 또는 추가', 또는 파일을 입력창에 끌어다 놓기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1051560"/>
            <a:ext cx="2377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0" b="1" i="0" u="none" strike="noStrike" kern="1200" cap="none" spc="0" normalizeH="0" baseline="0" noProof="0" dirty="0">
                <a:ln>
                  <a:noFill/>
                </a:ln>
                <a:solidFill>
                  <a:srgbClr val="2E2A18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kumimoji="0" lang="en-US" sz="1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822960" y="30632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1 — 분석 전에 데이터를 의심하라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822960" y="37947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점검과 클리닝 · 예산 집행 데이터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822960" y="43434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EDE8D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How one outlier cell ruins the whole result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22960" y="5806440"/>
            <a:ext cx="1207008" cy="420624"/>
          </a:xfrm>
          <a:prstGeom prst="roundRect">
            <a:avLst>
              <a:gd name="adj" fmla="val 19565"/>
            </a:avLst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5806440"/>
            <a:ext cx="12070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A181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1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249424" y="5806440"/>
            <a:ext cx="1207008" cy="420624"/>
          </a:xfrm>
          <a:prstGeom prst="roundRect">
            <a:avLst>
              <a:gd name="adj" fmla="val 19565"/>
            </a:avLst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249424" y="5806440"/>
            <a:ext cx="12070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DE8D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2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675888" y="5806440"/>
            <a:ext cx="1207008" cy="420624"/>
          </a:xfrm>
          <a:prstGeom prst="roundRect">
            <a:avLst>
              <a:gd name="adj" fmla="val 19565"/>
            </a:avLst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75888" y="5806440"/>
            <a:ext cx="12070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DE8D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3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102352" y="5806440"/>
            <a:ext cx="1207008" cy="420624"/>
          </a:xfrm>
          <a:prstGeom prst="roundRect">
            <a:avLst>
              <a:gd name="adj" fmla="val 19565"/>
            </a:avLst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102352" y="5806440"/>
            <a:ext cx="12070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DE8D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4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528816" y="5806440"/>
            <a:ext cx="1207008" cy="420624"/>
          </a:xfrm>
          <a:prstGeom prst="roundRect">
            <a:avLst>
              <a:gd name="adj" fmla="val 19565"/>
            </a:avLst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28816" y="5806440"/>
            <a:ext cx="12070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DE8D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5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955280" y="5806440"/>
            <a:ext cx="1207008" cy="420624"/>
          </a:xfrm>
          <a:prstGeom prst="roundRect">
            <a:avLst>
              <a:gd name="adj" fmla="val 19565"/>
            </a:avLst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955280" y="5806440"/>
            <a:ext cx="12070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DE8D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6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1 · 분석 계획 먼저 받기  |  사용자가 검토한 뒤 분석 진행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02920" y="804672"/>
            <a:ext cx="11201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본격 분석 전에 Claude가 계획을 세우도록 하면 단계를 스스로 설계  ·  '한 번에 답'을 요구하지 않기 — 계획을 먼저 받고, 그 다음 단계별로 진행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822960" y="169164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실습1_부서별_예산집행.xlsx 파일을 업로드하고 아래 프롬프트 실행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22960" y="2103120"/>
            <a:ext cx="10698480" cy="2148840"/>
          </a:xfrm>
          <a:prstGeom prst="roundRect">
            <a:avLst>
              <a:gd name="adj" fmla="val 2553"/>
            </a:avLst>
          </a:prstGeom>
          <a:solidFill>
            <a:srgbClr val="1A1810"/>
          </a:solidFill>
          <a:ln w="15875">
            <a:solidFill>
              <a:srgbClr val="8A7C4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2212848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 입력 프롬프트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1005840" y="2542032"/>
            <a:ext cx="10332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"본격적으로 분석하기 전에, 이 데이터의 분석 계획을 먼저 세워줘. 포함: (1) 필요한 클리닝 단계, (2) 먼저 볼 기초 통계, (3) 실행할 분석과 그 이유, (4) 추천 시각화, (5) 이런 유형 데이터에서 흔한 함정. 아직 분석은 하지 마."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822960" y="4754880"/>
            <a:ext cx="2029968" cy="777240"/>
          </a:xfrm>
          <a:prstGeom prst="roundRect">
            <a:avLst>
              <a:gd name="adj" fmla="val 7059"/>
            </a:avLst>
          </a:prstGeom>
          <a:solidFill>
            <a:srgbClr val="221E10"/>
          </a:solidFill>
          <a:ln w="12700">
            <a:solidFill>
              <a:srgbClr val="8A7C4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4754880"/>
            <a:ext cx="20299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(1) 클리닝 단계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999232" y="4754880"/>
            <a:ext cx="2029968" cy="777240"/>
          </a:xfrm>
          <a:prstGeom prst="roundRect">
            <a:avLst>
              <a:gd name="adj" fmla="val 7059"/>
            </a:avLst>
          </a:prstGeom>
          <a:solidFill>
            <a:srgbClr val="221E10"/>
          </a:solidFill>
          <a:ln w="12700">
            <a:solidFill>
              <a:srgbClr val="8A7C4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999232" y="4754880"/>
            <a:ext cx="20299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(2) 기초 통계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175504" y="4754880"/>
            <a:ext cx="2029968" cy="777240"/>
          </a:xfrm>
          <a:prstGeom prst="roundRect">
            <a:avLst>
              <a:gd name="adj" fmla="val 7059"/>
            </a:avLst>
          </a:prstGeom>
          <a:solidFill>
            <a:srgbClr val="221E10"/>
          </a:solidFill>
          <a:ln w="12700">
            <a:solidFill>
              <a:srgbClr val="8A7C4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175504" y="4754880"/>
            <a:ext cx="20299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(3) 분석 + 이유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351776" y="4754880"/>
            <a:ext cx="2029968" cy="777240"/>
          </a:xfrm>
          <a:prstGeom prst="roundRect">
            <a:avLst>
              <a:gd name="adj" fmla="val 7059"/>
            </a:avLst>
          </a:prstGeom>
          <a:solidFill>
            <a:srgbClr val="221E10"/>
          </a:solidFill>
          <a:ln w="12700">
            <a:solidFill>
              <a:srgbClr val="8A7C4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51776" y="4754880"/>
            <a:ext cx="20299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(4) 추천 시각화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9528048" y="4754880"/>
            <a:ext cx="2029968" cy="777240"/>
          </a:xfrm>
          <a:prstGeom prst="roundRect">
            <a:avLst>
              <a:gd name="adj" fmla="val 7059"/>
            </a:avLst>
          </a:prstGeom>
          <a:solidFill>
            <a:srgbClr val="221E10"/>
          </a:solidFill>
          <a:ln w="12700">
            <a:solidFill>
              <a:srgbClr val="8A7C4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528048" y="4754880"/>
            <a:ext cx="20299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(5) 흔한 함정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1 · ① 점검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02920" y="804672"/>
            <a:ext cx="11201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본격적 분석 전에 먼저 데이터 형태와 이상치 여부 </a:t>
            </a:r>
            <a:r>
              <a:rPr kumimoji="0" lang="en-US" sz="135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</a:t>
            </a:r>
            <a:r>
              <a:rPr kumimoji="0" lang="en-US" sz="135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데이터와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직접 비교해보며 잘 잡아냈는지 </a:t>
            </a:r>
            <a:r>
              <a:rPr kumimoji="0" lang="en-US" sz="135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검토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실습1_부서별_예산집행.xlsx 파일 사용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5230368" cy="1783080"/>
          </a:xfrm>
          <a:prstGeom prst="roundRect">
            <a:avLst>
              <a:gd name="adj" fmla="val 3077"/>
            </a:avLst>
          </a:prstGeom>
          <a:solidFill>
            <a:srgbClr val="1A1810"/>
          </a:solidFill>
          <a:ln w="15875">
            <a:solidFill>
              <a:srgbClr val="8A7C4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1801368"/>
            <a:ext cx="4864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 입력 프롬프트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005840" y="2130552"/>
            <a:ext cx="48646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 엑셀을 분석하기 전에 점검만 해줘. 행 수, 각 열 자료형, 결측치 위치, 값이 이상해 보이는 행을 보고해줘. 아직 분석은 하지 마."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22960" y="3657600"/>
            <a:ext cx="5230368" cy="2788920"/>
          </a:xfrm>
          <a:prstGeom prst="roundRect">
            <a:avLst>
              <a:gd name="adj" fmla="val 1967"/>
            </a:avLst>
          </a:prstGeom>
          <a:solidFill>
            <a:srgbClr val="1A1810"/>
          </a:solidFill>
          <a:ln w="12700">
            <a:solidFill>
              <a:srgbClr val="6E4A3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3785616"/>
            <a:ext cx="4773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A89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 여기서 멈추고 직접 확인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051560" y="4187952"/>
            <a:ext cx="477316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marR="0" lvl="0" indent="-1524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Claude가 195,000,000원 이상치를 스스로 찾았는가?  못 찾으면 → "집행액이 배정액보다 비정상적으로 큰 행 있어?"로 유도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52400" marR="0" lvl="0" indent="-1524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부서명 공백 불일치를 잡았는가?  안 잡으면 집계가 두 갈래로 쪼개짐 → 같은 부서가 둘로 카운트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52400" marR="0" lvl="0" indent="-1524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단계의 목적: '분석'이 아니라 '의심' — 무엇이 잘못됐는지 먼저 본다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291072" y="1691640"/>
            <a:ext cx="5230368" cy="4754880"/>
          </a:xfrm>
          <a:prstGeom prst="roundRect">
            <a:avLst>
              <a:gd name="adj" fmla="val 1154"/>
            </a:avLst>
          </a:prstGeom>
          <a:solidFill>
            <a:srgbClr val="1A1810"/>
          </a:solidFill>
          <a:ln w="12700">
            <a:solidFill>
              <a:srgbClr val="3E6E5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19672" y="1828800"/>
            <a:ext cx="4773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9BE8B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예상 결과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6519672" y="2286000"/>
            <a:ext cx="47731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marR="0" lvl="0" indent="-15240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30행. 집행액 결측 1건 (연구지원부 2분기 운영비)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52400" marR="0" lvl="0" indent="-15240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부서명에 '정보화본부'와 '정보화 본부'(공백) 혼재 → 같은 부서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52400" marR="0" lvl="0" indent="-15240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대외협력팀 2분기 운영비 집행액 195,000,000원 = 배정액의 약 98배 → 입력 오류 의심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52400" marR="0" lvl="0" indent="-15240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총무과 2분기 비품구입 집행액 0원 (미집행)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1 · ② 클리닝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02920" y="804672"/>
            <a:ext cx="11201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결측치, 이상치 등을 제거할 때 '왜 · 몇 건을' 제외했는지 표로 남기기  —  전처리 히스토리를 일목요연하게 기록하면 나중에 다시 확인하기 쉽고 업무도 효율적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5230368" cy="2286000"/>
          </a:xfrm>
          <a:prstGeom prst="roundRect">
            <a:avLst>
              <a:gd name="adj" fmla="val 2400"/>
            </a:avLst>
          </a:prstGeom>
          <a:solidFill>
            <a:srgbClr val="1A1810"/>
          </a:solidFill>
          <a:ln w="15875">
            <a:solidFill>
              <a:srgbClr val="8A7C4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1892808"/>
            <a:ext cx="4864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 입력 프롬프트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005840" y="2221992"/>
            <a:ext cx="486460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"점검 결과로 정리해줘: (1) '정보화 본부' 공백 제거해 통일 (2) 195,000,000원은 입력오류로 분석에서 제외하되 제외 사실 표시 (3) 집행액 결측 1건도 집행률 계산에서 제외. 처리 내역을 엑셀 별도 시트에 표로 정리해줘."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22960" y="4251960"/>
            <a:ext cx="5230368" cy="2194560"/>
          </a:xfrm>
          <a:prstGeom prst="roundRect">
            <a:avLst>
              <a:gd name="adj" fmla="val 2500"/>
            </a:avLst>
          </a:prstGeom>
          <a:solidFill>
            <a:srgbClr val="1A1810"/>
          </a:solidFill>
          <a:ln w="12700">
            <a:solidFill>
              <a:srgbClr val="6E4A3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4379976"/>
            <a:ext cx="4773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A89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 함정 · 검증 포인트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051560" y="4782312"/>
            <a:ext cx="47731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marR="0" lvl="0" indent="-1524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'몇 건을 왜 제외했는지'가 명확한가?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52400" marR="0" lvl="0" indent="-1524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없이 조용히 지우면 위험 — 공공·재무 데이터는 감사 대비 히스토리로도, 본인이 나중에 기억하기에도 좋음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291072" y="1783080"/>
            <a:ext cx="5230368" cy="2286000"/>
          </a:xfrm>
          <a:prstGeom prst="roundRect">
            <a:avLst>
              <a:gd name="adj" fmla="val 2400"/>
            </a:avLst>
          </a:prstGeom>
          <a:solidFill>
            <a:srgbClr val="1A1810"/>
          </a:solidFill>
          <a:ln w="12700">
            <a:solidFill>
              <a:srgbClr val="3E6E5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19672" y="1911096"/>
            <a:ext cx="4773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9BE8B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</a:t>
            </a:r>
            <a:r>
              <a:rPr kumimoji="0" lang="en-US" sz="1300" b="1" i="0" u="none" strike="noStrike" kern="1200" cap="none" spc="0" normalizeH="0" baseline="0" noProof="0" dirty="0" err="1">
                <a:ln>
                  <a:noFill/>
                </a:ln>
                <a:solidFill>
                  <a:srgbClr val="9BE8B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</a:t>
            </a: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9BE8B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300" b="1" i="0" u="none" strike="noStrike" kern="1200" cap="none" spc="0" normalizeH="0" baseline="0" noProof="0" dirty="0" err="1">
                <a:ln>
                  <a:noFill/>
                </a:ln>
                <a:solidFill>
                  <a:srgbClr val="9BE8B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6519672" y="2313432"/>
            <a:ext cx="47731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marR="0" lvl="0" indent="-1524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부서 5개로 통일: 기획조정실 · 연구지원부 · 정보화본부 · 대외협력팀 · 총무과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52400" marR="0" lvl="0" indent="-1524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제외 행 2건(이상치 1 + 결측 1)을 명시한 처리 내역 표 생성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6291072" y="4279392"/>
            <a:ext cx="5230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클리닝 처리 내역을 별도 시트로 만든 모습 (예시)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245801" y="4590288"/>
            <a:ext cx="3320909" cy="1929384"/>
          </a:xfrm>
          <a:prstGeom prst="roundRect">
            <a:avLst>
              <a:gd name="adj" fmla="val 2844"/>
            </a:avLst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pic>
        <p:nvPicPr>
          <p:cNvPr id="15" name="Image 0" descr="src_unpacked/ppt/media/image3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8953" y="4663440"/>
            <a:ext cx="3174605" cy="17830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1 · ③ 분석 + 검증  |  부서별 집행률 — 이상치 제외 전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02920" y="804672"/>
            <a:ext cx="11201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이상치가 제거되지 않았을 경우 생기는 문제 예시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5230368" cy="2148840"/>
          </a:xfrm>
          <a:prstGeom prst="roundRect">
            <a:avLst>
              <a:gd name="adj" fmla="val 2553"/>
            </a:avLst>
          </a:prstGeom>
          <a:solidFill>
            <a:srgbClr val="1A1810"/>
          </a:solidFill>
          <a:ln w="15875">
            <a:solidFill>
              <a:srgbClr val="8A7C4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1709928"/>
            <a:ext cx="4864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 입력 프롬프트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005840" y="2039112"/>
            <a:ext cx="486460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"맨 처음 업로드한 원본 데이터로 부서별 집행률(집행액합÷배정액합×100)을 코드로 계산해 낮은 순으로 그래프를 만들고, 낮은 3개 부서의 원인 항목을 짚어줘."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22960" y="3931920"/>
            <a:ext cx="5230368" cy="2514600"/>
          </a:xfrm>
          <a:prstGeom prst="roundRect">
            <a:avLst>
              <a:gd name="adj" fmla="val 2182"/>
            </a:avLst>
          </a:prstGeom>
          <a:solidFill>
            <a:srgbClr val="1A1810"/>
          </a:solidFill>
          <a:ln w="12700">
            <a:solidFill>
              <a:srgbClr val="6E4A3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4059936"/>
            <a:ext cx="4773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A89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 Claude가 못 잡아줄 수 있으므로 직접 검토 가능해야 함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051560" y="4498848"/>
            <a:ext cx="477316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marR="0" lvl="0" indent="-15240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Claude가 순간적으로 코드를 만들어 분석하기에, 코드가 못 잡아내는 이슈가 있을 수 있음 (우측 화면 위쪽의 경고 문구 참고)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52400" marR="0" lvl="0" indent="-15240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연구지원부 운영비 결측치가 분모에 포함되어 집행률이 낮아짐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52400" marR="0" lvl="0" indent="-15240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이상치를 안 빼면 대외협력팀 집행률이 비정상적으로 치솟음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217920" y="2441572"/>
            <a:ext cx="5376672" cy="3163577"/>
          </a:xfrm>
          <a:prstGeom prst="roundRect">
            <a:avLst>
              <a:gd name="adj" fmla="val 1734"/>
            </a:avLst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pic>
        <p:nvPicPr>
          <p:cNvPr id="11" name="Image 0" descr="src_unpacked/ppt/media/image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2514724"/>
            <a:ext cx="5230368" cy="301727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1 · ③ 분석 + 검증  |  부서별 집행률 — 이상치 제외 후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5230368" cy="2103120"/>
          </a:xfrm>
          <a:prstGeom prst="roundRect">
            <a:avLst>
              <a:gd name="adj" fmla="val 2609"/>
            </a:avLst>
          </a:prstGeom>
          <a:solidFill>
            <a:srgbClr val="1A1810"/>
          </a:solidFill>
          <a:ln w="15875">
            <a:solidFill>
              <a:srgbClr val="8A7C4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05840" y="1481328"/>
            <a:ext cx="4864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 입력 프롬프트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005840" y="1810512"/>
            <a:ext cx="48646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"이상치가 제거된 정리된 데이터로 부서별 집행률(집행액합÷배정액합×100)을 코드로 계산해 낮은 순으로 그래프를 만들고, 낮은 3개 부서의 원인 항목을 짚어줘."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291072" y="1371600"/>
            <a:ext cx="5230368" cy="2103120"/>
          </a:xfrm>
          <a:prstGeom prst="roundRect">
            <a:avLst>
              <a:gd name="adj" fmla="val 2609"/>
            </a:avLst>
          </a:prstGeom>
          <a:solidFill>
            <a:srgbClr val="1A1810"/>
          </a:solidFill>
          <a:ln w="12700">
            <a:solidFill>
              <a:srgbClr val="3E6E5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19672" y="149961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9BE8B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예상 결과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519672" y="1901952"/>
            <a:ext cx="477316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낮은 순:  연구지원부 ≈81.9% (장비구입 저조)  &lt;  대외협력팀 ≈83.3% (행사비 저조)  &lt;  총무과 ≈86.7% (비품 미집행)  &lt;  정보화본부 ≈96.3%  &lt;  기획조정실 ≈97.0%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955629" y="3721608"/>
            <a:ext cx="8250261" cy="2889504"/>
          </a:xfrm>
          <a:prstGeom prst="roundRect">
            <a:avLst>
              <a:gd name="adj" fmla="val 1899"/>
            </a:avLst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pic>
        <p:nvPicPr>
          <p:cNvPr id="10" name="Image 0" descr="src_unpacked/ppt/media/image4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8781" y="3794760"/>
            <a:ext cx="8103957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1 ·  Excel 애드인 버전 인스톨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02920" y="804672"/>
            <a:ext cx="11201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버전에 따라 인스톨 방법이 다름 — 아래 메뉴가 안 보이면 뒷장 참고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6309360" cy="1463040"/>
          </a:xfrm>
          <a:prstGeom prst="roundRect">
            <a:avLst>
              <a:gd name="adj" fmla="val 2105"/>
            </a:avLst>
          </a:prstGeom>
          <a:solidFill>
            <a:srgbClr val="221E10"/>
          </a:solidFill>
          <a:ln w="12700">
            <a:solidFill>
              <a:srgbClr val="8A7C4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78992" y="182880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경로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078992" y="2212848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marR="0" lvl="0" indent="-1524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엑셀 '홈' 메뉴 → 추가 기능 → 검색창에 'claude' 입력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52400" marR="0" lvl="0" indent="-1524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by anthropic for Excel </a:t>
            </a:r>
            <a:r>
              <a:rPr kumimoji="0" lang="ko-KR" alt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또는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Claude for Microsoft 365 → '추가' → 1분 정도 대기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22960" y="3337560"/>
            <a:ext cx="6309360" cy="822960"/>
          </a:xfrm>
          <a:prstGeom prst="roundRect">
            <a:avLst>
              <a:gd name="adj" fmla="val 2105"/>
            </a:avLst>
          </a:prstGeom>
          <a:solidFill>
            <a:srgbClr val="221E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78992" y="333756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DE8D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유료 요금제(Pro·Max·Team·Enterprise) 계정 필요 — Free 요금제는 사용 불가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708392" y="1618488"/>
            <a:ext cx="3328416" cy="4992624"/>
          </a:xfrm>
          <a:prstGeom prst="roundRect">
            <a:avLst>
              <a:gd name="adj" fmla="val 2105"/>
            </a:avLst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pic>
        <p:nvPicPr>
          <p:cNvPr id="10" name="Image 8" descr="src_unpacked/ppt/media/image4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1544" y="1691640"/>
            <a:ext cx="3182112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1 · Excel 애드인 버전 인스톨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02920" y="804672"/>
            <a:ext cx="11201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엑셀 메뉴에서 '삽입' → 추가 기능 가져오기 → Claude 검색 → Claude for Microsoft 365 → 1분 정도 대기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22960" y="1572768"/>
            <a:ext cx="6039691" cy="3849624"/>
          </a:xfrm>
          <a:prstGeom prst="roundRect">
            <a:avLst>
              <a:gd name="adj" fmla="val 2105"/>
            </a:avLst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pic>
        <p:nvPicPr>
          <p:cNvPr id="5" name="Image 3" descr="src_unpacked/ppt/media/image4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1645920"/>
            <a:ext cx="5893387" cy="3703320"/>
          </a:xfrm>
          <a:prstGeom prst="rect">
            <a:avLst/>
          </a:prstGeom>
        </p:spPr>
      </p:pic>
      <p:sp>
        <p:nvSpPr>
          <p:cNvPr id="6" name="Shape 4"/>
          <p:cNvSpPr/>
          <p:nvPr/>
        </p:nvSpPr>
        <p:spPr>
          <a:xfrm>
            <a:off x="7136971" y="1572768"/>
            <a:ext cx="3773709" cy="3849624"/>
          </a:xfrm>
          <a:prstGeom prst="roundRect">
            <a:avLst>
              <a:gd name="adj" fmla="val 2105"/>
            </a:avLst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pic>
        <p:nvPicPr>
          <p:cNvPr id="7" name="Image 5" descr="src_unpacked/ppt/media/image4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0123" y="1645920"/>
            <a:ext cx="3627405" cy="3703320"/>
          </a:xfrm>
          <a:prstGeom prst="rect">
            <a:avLst/>
          </a:prstGeom>
        </p:spPr>
      </p:pic>
      <p:sp>
        <p:nvSpPr>
          <p:cNvPr id="8" name="Shape 6"/>
          <p:cNvSpPr/>
          <p:nvPr/>
        </p:nvSpPr>
        <p:spPr>
          <a:xfrm>
            <a:off x="822960" y="5623560"/>
            <a:ext cx="10698480" cy="868680"/>
          </a:xfrm>
          <a:prstGeom prst="roundRect">
            <a:avLst>
              <a:gd name="adj" fmla="val 2105"/>
            </a:avLst>
          </a:prstGeom>
          <a:solidFill>
            <a:srgbClr val="221E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97280" y="5623560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공공기관 </a:t>
            </a:r>
            <a:r>
              <a:rPr kumimoji="0" lang="en-US" sz="1250" b="1" i="0" u="none" strike="noStrike" kern="1200" cap="none" spc="0" normalizeH="0" baseline="0" noProof="0" dirty="0" err="1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</a:t>
            </a: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: 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DE8D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 가이드대로 엑셀을 업데이트하지 않았으면 Claude 인스톨 메뉴가 안 </a:t>
            </a:r>
            <a:r>
              <a:rPr kumimoji="0" lang="en-US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EDE8D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보임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DE8D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1 ·  Excel 애드인 버전 사용하기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02920" y="804672"/>
            <a:ext cx="11201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 메뉴에서 Claude 버튼 클릭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6181344" cy="1905150"/>
          </a:xfrm>
          <a:prstGeom prst="roundRect">
            <a:avLst>
              <a:gd name="adj" fmla="val 2105"/>
            </a:avLst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pic>
        <p:nvPicPr>
          <p:cNvPr id="5" name="Image 3" descr="Excel Home ribbon with Claude butt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1673352"/>
            <a:ext cx="6035040" cy="1758846"/>
          </a:xfrm>
          <a:prstGeom prst="rect">
            <a:avLst/>
          </a:prstGeom>
        </p:spPr>
      </p:pic>
      <p:sp>
        <p:nvSpPr>
          <p:cNvPr id="6" name="Shape 4"/>
          <p:cNvSpPr/>
          <p:nvPr/>
        </p:nvSpPr>
        <p:spPr>
          <a:xfrm>
            <a:off x="7278624" y="1600200"/>
            <a:ext cx="4242816" cy="1905150"/>
          </a:xfrm>
          <a:prstGeom prst="roundRect">
            <a:avLst>
              <a:gd name="adj" fmla="val 2105"/>
            </a:avLst>
          </a:prstGeom>
          <a:solidFill>
            <a:srgbClr val="221E10"/>
          </a:solidFill>
          <a:ln w="12700">
            <a:solidFill>
              <a:srgbClr val="8A7C4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507224" y="1737360"/>
            <a:ext cx="3785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버튼 위치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7507224" y="2103120"/>
            <a:ext cx="3785616" cy="1301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 메뉴 오른쪽 끝, '추가 기능' 옆의 Claude 아이콘. 안 보이면 앞 장의 방법으로 인스톨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22960" y="3779670"/>
            <a:ext cx="10698480" cy="1783080"/>
          </a:xfrm>
          <a:prstGeom prst="roundRect">
            <a:avLst>
              <a:gd name="adj" fmla="val 2105"/>
            </a:avLst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51560" y="3907686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사이드바 사용법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1051560" y="4282590"/>
            <a:ext cx="1024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marR="0" lvl="0" indent="-1524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버튼을 누르면 화면 오른쪽에 Claude 사이드바가 열림 — 처음 한 번은 Claude 계정으로 로그인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52400" marR="0" lvl="0" indent="-1524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사이드바 아래 입력창에 지시 입력. claude.ai에서 쓰던 프롬프트를 그대로 사용 가능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52400" marR="0" lvl="0" indent="-1524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모델은 입력창 오른쪽 아래에서 선택 — Office 작업에 맞춘 모델만 보여 claude.ai보다 목록이 짧을 수 있음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822960" y="569991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EDE8D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애드인 화면은 업데이트가 잦아 버튼 모양·문구가 조금씩 다를 수 있음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1 · Excel 애드인 버전 사용해보기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02920" y="804672"/>
            <a:ext cx="11201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앞에서 했던 작업들을 다시 해보고, 도전 과제를 진행하며 어떻게 다른지 확인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22960" y="1554480"/>
            <a:ext cx="6400800" cy="2057400"/>
          </a:xfrm>
          <a:prstGeom prst="roundRect">
            <a:avLst>
              <a:gd name="adj" fmla="val 2105"/>
            </a:avLst>
          </a:prstGeom>
          <a:solidFill>
            <a:srgbClr val="1A1810"/>
          </a:solidFill>
          <a:ln w="12700">
            <a:solidFill>
              <a:srgbClr val="3E6E5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67335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9BE8B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애드인의 강점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051560" y="2029968"/>
            <a:ext cx="5943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marR="0" lvl="0" indent="-1524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셀 단위 인용으로 '어떤 셀을 근거로 했는지' 클릭해 추적 — 행정·재무 데이터를 섬세하게 컨트롤하며 지시할 때 효율적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52400" marR="0" lvl="0" indent="-1524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정렬·필터·피벗 편집·조건부 서식 등 Excel 기능을 직접 수행. 기존 데이터를 덮어쓰기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전에는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경고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22960" y="3749040"/>
            <a:ext cx="6400800" cy="1298448"/>
          </a:xfrm>
          <a:prstGeom prst="roundRect">
            <a:avLst>
              <a:gd name="adj" fmla="val 2105"/>
            </a:avLst>
          </a:prstGeom>
          <a:solidFill>
            <a:srgbClr val="1A1810"/>
          </a:solidFill>
          <a:ln w="12700">
            <a:solidFill>
              <a:srgbClr val="6E4A3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386791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A89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 외부에서 받은 파일 주의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051560" y="4224528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marR="0" lvl="0" indent="-1524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셀·수식·메모에 숨겨진 지시문(프롬프트 인젝션)이 Claude를 조종해 데이터를 빼내거나 바꿀 수 있음 → 신뢰할 수 있는 파일에서만 사용 (Anthropic 공식 권고)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22960" y="5184648"/>
            <a:ext cx="6400800" cy="1307592"/>
          </a:xfrm>
          <a:prstGeom prst="roundRect">
            <a:avLst>
              <a:gd name="adj" fmla="val 2105"/>
            </a:avLst>
          </a:prstGeom>
          <a:solidFill>
            <a:srgbClr val="1A1810"/>
          </a:solidFill>
          <a:ln w="12700">
            <a:solidFill>
              <a:srgbClr val="8A7C4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51560" y="530352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도전 과제 (빠른 분)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1051560" y="5660136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marR="0" lvl="0" indent="-1524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피벗으로 '분기 × 항목' 교차 집행률 표 만들기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52400" marR="0" lvl="0" indent="-1524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배정액을 부서별 5% 늘리면 전체 집행률 목표(예: 90%) 달성에 어떤 영향인지 시나리오 분석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403336" y="1618488"/>
            <a:ext cx="2212848" cy="4946904"/>
          </a:xfrm>
          <a:prstGeom prst="roundRect">
            <a:avLst>
              <a:gd name="adj" fmla="val 2105"/>
            </a:avLst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pic>
        <p:nvPicPr>
          <p:cNvPr id="14" name="Image 12" descr="src_unpacked/ppt/media/image4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6488" y="1691640"/>
            <a:ext cx="2066544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1051560"/>
            <a:ext cx="2377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0" b="1" i="0" u="none" strike="noStrike" kern="1200" cap="none" spc="0" normalizeH="0" baseline="0" noProof="0" dirty="0">
                <a:ln>
                  <a:noFill/>
                </a:ln>
                <a:solidFill>
                  <a:srgbClr val="2E2A18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kumimoji="0" lang="en-US" sz="1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822960" y="30632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2 — '평균'이라는 말에 속지 않기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822960" y="37947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평균의 함정 · 직원 급여·성과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822960" y="43434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EDE8D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When two outliers drag the mean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22960" y="5806440"/>
            <a:ext cx="1207008" cy="420624"/>
          </a:xfrm>
          <a:prstGeom prst="roundRect">
            <a:avLst>
              <a:gd name="adj" fmla="val 19565"/>
            </a:avLst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5806440"/>
            <a:ext cx="12070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DE8D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1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249424" y="5806440"/>
            <a:ext cx="1207008" cy="420624"/>
          </a:xfrm>
          <a:prstGeom prst="roundRect">
            <a:avLst>
              <a:gd name="adj" fmla="val 19565"/>
            </a:avLst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249424" y="5806440"/>
            <a:ext cx="12070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A181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2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675888" y="5806440"/>
            <a:ext cx="1207008" cy="420624"/>
          </a:xfrm>
          <a:prstGeom prst="roundRect">
            <a:avLst>
              <a:gd name="adj" fmla="val 19565"/>
            </a:avLst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75888" y="5806440"/>
            <a:ext cx="12070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DE8D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3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102352" y="5806440"/>
            <a:ext cx="1207008" cy="420624"/>
          </a:xfrm>
          <a:prstGeom prst="roundRect">
            <a:avLst>
              <a:gd name="adj" fmla="val 19565"/>
            </a:avLst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102352" y="5806440"/>
            <a:ext cx="12070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DE8D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4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528816" y="5806440"/>
            <a:ext cx="1207008" cy="420624"/>
          </a:xfrm>
          <a:prstGeom prst="roundRect">
            <a:avLst>
              <a:gd name="adj" fmla="val 19565"/>
            </a:avLst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28816" y="5806440"/>
            <a:ext cx="12070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DE8D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5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955280" y="5806440"/>
            <a:ext cx="1207008" cy="420624"/>
          </a:xfrm>
          <a:prstGeom prst="roundRect">
            <a:avLst>
              <a:gd name="adj" fmla="val 19565"/>
            </a:avLst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955280" y="5806440"/>
            <a:ext cx="12070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DE8D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6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2 · ① 순진한 질문 → ② 제대로 묻기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02920" y="804672"/>
            <a:ext cx="11201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평균만 묻기(일부러) → 분포를 함께 그려야 데이터 왜곡 발견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22960" y="1645920"/>
            <a:ext cx="5230368" cy="1234440"/>
          </a:xfrm>
          <a:prstGeom prst="roundRect">
            <a:avLst>
              <a:gd name="adj" fmla="val 4444"/>
            </a:avLst>
          </a:prstGeom>
          <a:solidFill>
            <a:srgbClr val="1A1810"/>
          </a:solidFill>
          <a:ln w="15875">
            <a:solidFill>
              <a:srgbClr val="8A7C4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1755648"/>
            <a:ext cx="4864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 ① 의도적으로 순진한 질문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005840" y="2084832"/>
            <a:ext cx="4864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 회사 직원들의 평균 연봉이 얼마야?"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22960" y="3017520"/>
            <a:ext cx="5230368" cy="1371600"/>
          </a:xfrm>
          <a:prstGeom prst="roundRect">
            <a:avLst>
              <a:gd name="adj" fmla="val 4000"/>
            </a:avLst>
          </a:prstGeom>
          <a:solidFill>
            <a:srgbClr val="221E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3154680"/>
            <a:ext cx="47731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DE8D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소규모 데이터라 Claude가 왜곡을 바로 확인하고 검증하기도 함. 그러나 데이터가 커져서 Claude가 검증을 못 하면 낭패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22960" y="4572000"/>
            <a:ext cx="5230368" cy="1920240"/>
          </a:xfrm>
          <a:prstGeom prst="roundRect">
            <a:avLst>
              <a:gd name="adj" fmla="val 2857"/>
            </a:avLst>
          </a:prstGeom>
          <a:solidFill>
            <a:srgbClr val="1A1810"/>
          </a:solidFill>
          <a:ln w="15875">
            <a:solidFill>
              <a:srgbClr val="8A7C4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05840" y="4681728"/>
            <a:ext cx="4864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 ② 분포까지 요청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1005840" y="5010912"/>
            <a:ext cx="48646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"연봉의 평균, 중앙값, 최소/최대, 사분위수를 계산하고, 분포를 히스토그램으로 그려. 평균이 대표값으로 적절한지 판단해줘. 극단값이 평균에 얼마나 영향을 주는지도 보여줘. 박스플롯으로 그려서 극단값을 보여줘"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602802" y="1572768"/>
            <a:ext cx="4606908" cy="2523744"/>
          </a:xfrm>
          <a:prstGeom prst="roundRect">
            <a:avLst>
              <a:gd name="adj" fmla="val 2174"/>
            </a:avLst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pic>
        <p:nvPicPr>
          <p:cNvPr id="13" name="Image 0" descr="src_unpacked/ppt/media/image4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954" y="1645920"/>
            <a:ext cx="4460604" cy="237744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7488140" y="4133088"/>
            <a:ext cx="2836232" cy="2432304"/>
          </a:xfrm>
          <a:prstGeom prst="roundRect">
            <a:avLst>
              <a:gd name="adj" fmla="val 2256"/>
            </a:avLst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pic>
        <p:nvPicPr>
          <p:cNvPr id="15" name="Image 1" descr="src_unpacked/ppt/media/image4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1292" y="4206240"/>
            <a:ext cx="2689928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2 · 예상 결과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02920" y="804672"/>
            <a:ext cx="11201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평균과 중앙값의 큰 차이 = 소수의 큰 값이 평균을 끌어올림 (오른쪽 꼬리가 긴 분포)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10698480" cy="3291840"/>
          </a:xfrm>
          <a:prstGeom prst="roundRect">
            <a:avLst>
              <a:gd name="adj" fmla="val 1667"/>
            </a:avLst>
          </a:prstGeom>
          <a:solidFill>
            <a:srgbClr val="1A1810"/>
          </a:solidFill>
          <a:ln w="12700">
            <a:solidFill>
              <a:srgbClr val="3E6E5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1755648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9BE8B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예상 결과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097280" y="2240280"/>
            <a:ext cx="101498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marR="0" lvl="0" indent="-15240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 ≈7,465만원  vs  중앙값 ≈4,450만원 — 소수의 큰 값이 평균을 끌어올린 오른쪽 꼬리 분포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52400" marR="0" lvl="0" indent="-15240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경영진 2명 제외 시 평균 ≈4,794만원으로 급락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52400" marR="0" lvl="0" indent="-15240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히스토그램에서 35,000·28,000이 멀리 떨어진 극단값으로 보임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52400" marR="0" lvl="0" indent="-15240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결론: 이 데이터는 '평균'보다 '중앙값'이 대표값으로 적절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2 · 함정 → ③ 올바른 비교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02920" y="804672"/>
            <a:ext cx="11201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극단값과 결측치 처리, 그리고 중앙값을 통해 정확한 데이터 파악 가능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22960" y="1645920"/>
            <a:ext cx="5230368" cy="3108960"/>
          </a:xfrm>
          <a:prstGeom prst="roundRect">
            <a:avLst>
              <a:gd name="adj" fmla="val 1765"/>
            </a:avLst>
          </a:prstGeom>
          <a:solidFill>
            <a:srgbClr val="1A1810"/>
          </a:solidFill>
          <a:ln w="12700">
            <a:solidFill>
              <a:srgbClr val="6E4A3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773936"/>
            <a:ext cx="4773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A89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 함정 · 검증 포인트 — 중앙값을 봐야 하는 이유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051560" y="2176272"/>
            <a:ext cx="477316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marR="0" lvl="0" indent="-15240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원장(35,000)·부원장(28,000) 단 2명이 평균을 끌어올림 — 직원 18명 대다수는 3,200~4,800만원대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52400" marR="0" lvl="0" indent="-15240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Claude가 중앙값을 권했는가? 평균만 답했다면 "극단값 영향은?"으로 한 번 더 파고들게 하기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52400" marR="0" lvl="0" indent="-15240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성과점수 결측 1건(E018) 처리 확인 — 결측을 0으로 잘못 넣으면 성과 평균이 왜곡됨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291072" y="1645920"/>
            <a:ext cx="5230368" cy="2103120"/>
          </a:xfrm>
          <a:prstGeom prst="roundRect">
            <a:avLst>
              <a:gd name="adj" fmla="val 2609"/>
            </a:avLst>
          </a:prstGeom>
          <a:solidFill>
            <a:srgbClr val="1A1810"/>
          </a:solidFill>
          <a:ln w="15875">
            <a:solidFill>
              <a:srgbClr val="8A7C4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73952" y="1755648"/>
            <a:ext cx="4864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 ③ 그룹 비교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473952" y="2084832"/>
            <a:ext cx="48646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"경영진을 제외하고, 직급별 평균·중앙값 연봉과 근속년수–연봉의 관계를 분석해줘. 막대 차트로 직급별 중앙 연봉을 그려서 보여줘."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291072" y="3931920"/>
            <a:ext cx="5230368" cy="2514600"/>
          </a:xfrm>
          <a:prstGeom prst="roundRect">
            <a:avLst>
              <a:gd name="adj" fmla="val 2182"/>
            </a:avLst>
          </a:prstGeom>
          <a:solidFill>
            <a:srgbClr val="1A1810"/>
          </a:solidFill>
          <a:ln w="12700">
            <a:solidFill>
              <a:srgbClr val="8A7C4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19672" y="4059936"/>
            <a:ext cx="4773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도전 과제 (빠른 분)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6519672" y="4462272"/>
            <a:ext cx="477316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marR="0" lvl="0" indent="-1524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'연봉 대비 성과점수' 파생 지표로 가성비 높은 직급 찾기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52400" marR="0" lvl="0" indent="-1524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경영진 포함/제외 두 버전 평균을 나란히 제시 → 통계를 어떻게 '정직하게' 뽑을지 고민을 Claude에게 시키기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1051560"/>
            <a:ext cx="2377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0" b="1" i="0" u="none" strike="noStrike" kern="1200" cap="none" spc="0" normalizeH="0" baseline="0" noProof="0" dirty="0">
                <a:ln>
                  <a:noFill/>
                </a:ln>
                <a:solidFill>
                  <a:srgbClr val="2E2A18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kumimoji="0" lang="en-US" sz="1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822960" y="30632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3 — 상관 관계와 인과 관계 분석 시키기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822960" y="37947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상관은 인과가 아니다 · 논문·연구비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822960" y="43434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EDE8D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상관 계수 분석도 Claude에게 시키면 잘함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22960" y="5806440"/>
            <a:ext cx="1207008" cy="420624"/>
          </a:xfrm>
          <a:prstGeom prst="roundRect">
            <a:avLst>
              <a:gd name="adj" fmla="val 19565"/>
            </a:avLst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5806440"/>
            <a:ext cx="12070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DE8D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1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249424" y="5806440"/>
            <a:ext cx="1207008" cy="420624"/>
          </a:xfrm>
          <a:prstGeom prst="roundRect">
            <a:avLst>
              <a:gd name="adj" fmla="val 19565"/>
            </a:avLst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249424" y="5806440"/>
            <a:ext cx="12070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DE8D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2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675888" y="5806440"/>
            <a:ext cx="1207008" cy="420624"/>
          </a:xfrm>
          <a:prstGeom prst="roundRect">
            <a:avLst>
              <a:gd name="adj" fmla="val 19565"/>
            </a:avLst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75888" y="5806440"/>
            <a:ext cx="12070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A181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3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102352" y="5806440"/>
            <a:ext cx="1207008" cy="420624"/>
          </a:xfrm>
          <a:prstGeom prst="roundRect">
            <a:avLst>
              <a:gd name="adj" fmla="val 19565"/>
            </a:avLst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102352" y="5806440"/>
            <a:ext cx="12070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DE8D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4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528816" y="5806440"/>
            <a:ext cx="1207008" cy="420624"/>
          </a:xfrm>
          <a:prstGeom prst="roundRect">
            <a:avLst>
              <a:gd name="adj" fmla="val 19565"/>
            </a:avLst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28816" y="5806440"/>
            <a:ext cx="12070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DE8D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5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955280" y="5806440"/>
            <a:ext cx="1207008" cy="420624"/>
          </a:xfrm>
          <a:prstGeom prst="roundRect">
            <a:avLst>
              <a:gd name="adj" fmla="val 19565"/>
            </a:avLst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955280" y="5806440"/>
            <a:ext cx="12070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DE8D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6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3 · ① 상관 분석 (핵심)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02920" y="804672"/>
            <a:ext cx="11201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 연구비 — 상관계수가 높은 것이 인과관계까지 있는지 확인시키기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22960" y="1645920"/>
            <a:ext cx="5230368" cy="2148840"/>
          </a:xfrm>
          <a:prstGeom prst="roundRect">
            <a:avLst>
              <a:gd name="adj" fmla="val 2553"/>
            </a:avLst>
          </a:prstGeom>
          <a:solidFill>
            <a:srgbClr val="1A1810"/>
          </a:solidFill>
          <a:ln w="15875">
            <a:solidFill>
              <a:srgbClr val="8A7C4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1755648"/>
            <a:ext cx="4864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 입력 프롬프트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005840" y="2084832"/>
            <a:ext cx="486460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"공저자수–피인용수, 그리고 연구비–피인용수의 상관계수를 계산하고 각각 산점도로 보여줘. 이 상관이 인과를 의미하는지, 통계적으로 단정할 수 있는지 신중히 해석해줘."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22960" y="3977640"/>
            <a:ext cx="5230368" cy="2468880"/>
          </a:xfrm>
          <a:prstGeom prst="roundRect">
            <a:avLst>
              <a:gd name="adj" fmla="val 2222"/>
            </a:avLst>
          </a:prstGeom>
          <a:solidFill>
            <a:srgbClr val="1A1810"/>
          </a:solidFill>
          <a:ln w="12700">
            <a:solidFill>
              <a:srgbClr val="3E6E5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4105656"/>
            <a:ext cx="4773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9BE8B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예상 결과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051560" y="4507992"/>
            <a:ext cx="477316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marR="0" lvl="0" indent="-1524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공저자수–피인용 ≈0.41, 연구비–피인용 ≈0.31 (둘 다 약~중간 양의 상관)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52400" marR="0" lvl="0" indent="-1524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좋은 답: '상관 ≠ 인과', 표본이 작아 단정 어려움, 분야가 교란변수일 수 있음을 언급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217920" y="1572768"/>
            <a:ext cx="5376672" cy="2401010"/>
          </a:xfrm>
          <a:prstGeom prst="roundRect">
            <a:avLst>
              <a:gd name="adj" fmla="val 2285"/>
            </a:avLst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pic>
        <p:nvPicPr>
          <p:cNvPr id="11" name="Image 0" descr="src_unpacked/ppt/media/image4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1645920"/>
            <a:ext cx="5230368" cy="2254706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291072" y="4297680"/>
            <a:ext cx="5230368" cy="2148840"/>
          </a:xfrm>
          <a:prstGeom prst="roundRect">
            <a:avLst>
              <a:gd name="adj" fmla="val 2553"/>
            </a:avLst>
          </a:prstGeom>
          <a:solidFill>
            <a:srgbClr val="1A1810"/>
          </a:solidFill>
          <a:ln w="12700">
            <a:solidFill>
              <a:srgbClr val="6E4A3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519672" y="4425696"/>
            <a:ext cx="4773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A89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 핵심 함정 — 인과 비약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1"/>
          <p:cNvSpPr txBox="1"/>
          <p:nvPr/>
        </p:nvSpPr>
        <p:spPr>
          <a:xfrm>
            <a:off x="6519672" y="4828032"/>
            <a:ext cx="477316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marR="0" lvl="0" indent="-1524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"공저자 많으면 인용 많다 → 공저자를 늘리자"는 잘못된 결론. 큰 프로젝트일수록 공저자·연구비·인용이 함께 큰 것일 뿐 (공통 원인 = 교란변수)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52400" marR="0" lvl="0" indent="-1524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실습은 정확히 대답하지만 다른 상황에서는 잘못 답할 수 있으니 최종 확인은 사람이 직접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3 · ② 교란변수 통제 시도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02920" y="804672"/>
            <a:ext cx="11201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분야로 더 나누면 상관 관계가 약해지는지 확인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22960" y="1645920"/>
            <a:ext cx="5230368" cy="1965960"/>
          </a:xfrm>
          <a:prstGeom prst="roundRect">
            <a:avLst>
              <a:gd name="adj" fmla="val 2791"/>
            </a:avLst>
          </a:prstGeom>
          <a:solidFill>
            <a:srgbClr val="1A1810"/>
          </a:solidFill>
          <a:ln w="15875">
            <a:solidFill>
              <a:srgbClr val="8A7C4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1755648"/>
            <a:ext cx="4864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 ② 분야를 나눠 분석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005840" y="2084832"/>
            <a:ext cx="486460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"분야별로 나눠서 각 분야 안에서 공저자수–피인용수 관계를 다시 봐줘. 분야를 통제하면 상관이 약해지는지 확인해줘."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22960" y="3840480"/>
            <a:ext cx="5230368" cy="2286000"/>
          </a:xfrm>
          <a:prstGeom prst="roundRect">
            <a:avLst>
              <a:gd name="adj" fmla="val 2400"/>
            </a:avLst>
          </a:prstGeom>
          <a:solidFill>
            <a:srgbClr val="1A1810"/>
          </a:solidFill>
          <a:ln w="12700">
            <a:solidFill>
              <a:srgbClr val="8A7C4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3968496"/>
            <a:ext cx="4773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도전 과제 (빠른 분)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051560" y="4370832"/>
            <a:ext cx="47731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marR="0" lvl="0" indent="-1524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인과 관계를 찾아볼 수 있는 방법이 있는지 물어보기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52400" marR="0" lvl="0" indent="-1524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유의미한 상관 관계가 뭐가 있는지 물어보기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291072" y="1645920"/>
            <a:ext cx="5230368" cy="4480560"/>
          </a:xfrm>
          <a:prstGeom prst="roundRect">
            <a:avLst>
              <a:gd name="adj" fmla="val 1224"/>
            </a:avLst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19672" y="1792224"/>
            <a:ext cx="4773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직관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6519672" y="2212848"/>
            <a:ext cx="477316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marR="0" lvl="0" indent="-15240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전체로 보면  →  상관 0.41 (관계 있어 보임)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52400" marR="0" lvl="0" indent="-15240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분야 안에서 보면 →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52400" marR="0" lvl="0" indent="-15240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정보통신 안 : 약함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52400" marR="0" lvl="0" indent="-15240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생명 안 : 약함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52400" marR="0" lvl="0" indent="-15240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물리 안 : 거의 없음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519672" y="4892040"/>
            <a:ext cx="4773168" cy="1005840"/>
          </a:xfrm>
          <a:prstGeom prst="roundRect">
            <a:avLst>
              <a:gd name="adj" fmla="val 5455"/>
            </a:avLst>
          </a:prstGeom>
          <a:solidFill>
            <a:srgbClr val="221E10"/>
          </a:solidFill>
          <a:ln w="12700">
            <a:solidFill>
              <a:srgbClr val="8A7C4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748272" y="4892040"/>
            <a:ext cx="43159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전체 상관의 상당 부분이 '분야 차이'에서 온 것으로 보임  (분야 = 교란변수 가능성)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1051560"/>
            <a:ext cx="2377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0" b="1" i="0" u="none" strike="noStrike" kern="1200" cap="none" spc="0" normalizeH="0" baseline="0" noProof="0" dirty="0">
                <a:ln>
                  <a:noFill/>
                </a:ln>
                <a:solidFill>
                  <a:srgbClr val="2E2A18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kumimoji="0" lang="en-US" sz="1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822960" y="30632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4 — 관련 있는 CSV 파일 두 개를 합치기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822960" y="37947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정합성을 의심하라 · 도서관 회원·대출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822960" y="43434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EDE8D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DB에서 JOIN 개념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22960" y="5806440"/>
            <a:ext cx="1207008" cy="420624"/>
          </a:xfrm>
          <a:prstGeom prst="roundRect">
            <a:avLst>
              <a:gd name="adj" fmla="val 19565"/>
            </a:avLst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5806440"/>
            <a:ext cx="12070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DE8D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1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249424" y="5806440"/>
            <a:ext cx="1207008" cy="420624"/>
          </a:xfrm>
          <a:prstGeom prst="roundRect">
            <a:avLst>
              <a:gd name="adj" fmla="val 19565"/>
            </a:avLst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249424" y="5806440"/>
            <a:ext cx="12070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DE8D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2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675888" y="5806440"/>
            <a:ext cx="1207008" cy="420624"/>
          </a:xfrm>
          <a:prstGeom prst="roundRect">
            <a:avLst>
              <a:gd name="adj" fmla="val 19565"/>
            </a:avLst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75888" y="5806440"/>
            <a:ext cx="12070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DE8D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3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102352" y="5806440"/>
            <a:ext cx="1207008" cy="420624"/>
          </a:xfrm>
          <a:prstGeom prst="roundRect">
            <a:avLst>
              <a:gd name="adj" fmla="val 19565"/>
            </a:avLst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102352" y="5806440"/>
            <a:ext cx="12070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A181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4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528816" y="5806440"/>
            <a:ext cx="1207008" cy="420624"/>
          </a:xfrm>
          <a:prstGeom prst="roundRect">
            <a:avLst>
              <a:gd name="adj" fmla="val 19565"/>
            </a:avLst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28816" y="5806440"/>
            <a:ext cx="12070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DE8D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5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955280" y="5806440"/>
            <a:ext cx="1207008" cy="420624"/>
          </a:xfrm>
          <a:prstGeom prst="roundRect">
            <a:avLst>
              <a:gd name="adj" fmla="val 19565"/>
            </a:avLst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955280" y="5806440"/>
            <a:ext cx="12070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DE8D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6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4 · ① 두 파일 조인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02920" y="804672"/>
            <a:ext cx="11201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 파일 + 대출기록 파일을 합치고 — 누락되는 것이 있는지 확인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5230368" cy="2331720"/>
          </a:xfrm>
          <a:prstGeom prst="roundRect">
            <a:avLst>
              <a:gd name="adj" fmla="val 2353"/>
            </a:avLst>
          </a:prstGeom>
          <a:solidFill>
            <a:srgbClr val="1A1810"/>
          </a:solidFill>
          <a:ln w="15875">
            <a:solidFill>
              <a:srgbClr val="8A7C4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1709928"/>
            <a:ext cx="4864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 입력 프롬프트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005840" y="2039112"/>
            <a:ext cx="486460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"회원(실습4a)과 대출기록(실습4b) 두 파일을 회원ID로 합쳐줘. 합친 뒤 전체 행 수와, 어느 쪽에서도 매칭되지 않은 회원·대출이 있는지 반드시 확인해줘."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291072" y="1600200"/>
            <a:ext cx="5230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조인 개념도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291072" y="1965960"/>
            <a:ext cx="2468880" cy="1691640"/>
          </a:xfrm>
          <a:prstGeom prst="roundRect">
            <a:avLst>
              <a:gd name="adj" fmla="val 3243"/>
            </a:avLst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92240" y="210312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 (10명)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…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M010 · 학부생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FFA89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(M011은 명단에 없음)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9052560" y="1965960"/>
            <a:ext cx="2468880" cy="1691640"/>
          </a:xfrm>
          <a:prstGeom prst="roundRect">
            <a:avLst>
              <a:gd name="adj" fmla="val 3243"/>
            </a:avLst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253728" y="210312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대출기록 (20건)
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L1007 · M004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L1008 · M011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…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6291072" y="3794760"/>
            <a:ext cx="5230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   회원ID로 합치기   ▼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291072" y="4206240"/>
            <a:ext cx="5230368" cy="2240280"/>
          </a:xfrm>
          <a:prstGeom prst="roundRect">
            <a:avLst>
              <a:gd name="adj" fmla="val 2449"/>
            </a:avLst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19672" y="4370832"/>
            <a:ext cx="477316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합친 결과 (대출 기준 20행)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L1007 · M004 · 정보과학 …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A89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L1008 · M011 · ✖ 회원 정보 없음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FFA89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대출 없는 회원(예: M002)은 대출 기준 결과에서 사라짐 → 회원 기준으로도 확인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22960" y="4206240"/>
            <a:ext cx="5230368" cy="2240280"/>
          </a:xfrm>
          <a:prstGeom prst="roundRect">
            <a:avLst>
              <a:gd name="adj" fmla="val 2449"/>
            </a:avLst>
          </a:prstGeom>
          <a:solidFill>
            <a:srgbClr val="221E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51560" y="4434840"/>
            <a:ext cx="4754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DE8D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빨간 행 = 정합성이 깨진 지점.  합치기 전후 행 수를 비교해 '몇 건이 사라지고 몇 건이 늘었나'를 확인한다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4 · ① 두 파일 조인 — 결과와 함정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822960" y="1417320"/>
            <a:ext cx="10698480" cy="2148840"/>
          </a:xfrm>
          <a:prstGeom prst="roundRect">
            <a:avLst>
              <a:gd name="adj" fmla="val 2553"/>
            </a:avLst>
          </a:prstGeom>
          <a:solidFill>
            <a:srgbClr val="1A1810"/>
          </a:solidFill>
          <a:ln w="12700">
            <a:solidFill>
              <a:srgbClr val="3E6E5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97280" y="1572768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9BE8B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예상 결과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097280" y="2057400"/>
            <a:ext cx="10149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marR="0" lvl="0" indent="-15240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대출 20건 기준으로 합치면 매칭 19건 + 미매칭 1건 (L1008 → 회원 M011 없음)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52400" marR="0" lvl="0" indent="-15240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조인 방식(내부/왼쪽)에 따라 행 수가 달라짐을 스스로 짚으면 좋은 답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22960" y="3840480"/>
            <a:ext cx="10698480" cy="2606040"/>
          </a:xfrm>
          <a:prstGeom prst="roundRect">
            <a:avLst>
              <a:gd name="adj" fmla="val 2105"/>
            </a:avLst>
          </a:prstGeom>
          <a:solidFill>
            <a:srgbClr val="1A1810"/>
          </a:solidFill>
          <a:ln w="12700">
            <a:solidFill>
              <a:srgbClr val="6E4A3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3995928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A89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 핵심 함정 — 정합성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1097280" y="4480560"/>
            <a:ext cx="10149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marR="0" lvl="0" indent="-15240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매칭이 안 되는 부분이 있음을 모르고 분석하면 통계가 어긋남 (없는 회원의 대출, 대출 없는 회원)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52400" marR="0" lvl="0" indent="-15240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명이 여러 권 빌리면 회원 정보가 중복 복제되어 '회원 수'가 부풀 수 있음 — 합친 뒤 행 수 확인 필수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4 · ② 파생변수 · ③ 피벗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02920" y="804672"/>
            <a:ext cx="11201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컬럼을 만들고, 피벗 함수처럼 묶어서 보기  ·  회원별이 아니라 소속별로 대출기간 분석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5230368" cy="1737360"/>
          </a:xfrm>
          <a:prstGeom prst="roundRect">
            <a:avLst>
              <a:gd name="adj" fmla="val 3158"/>
            </a:avLst>
          </a:prstGeom>
          <a:solidFill>
            <a:srgbClr val="1A1810"/>
          </a:solidFill>
          <a:ln w="15875">
            <a:solidFill>
              <a:srgbClr val="8A7C4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1801368"/>
            <a:ext cx="4864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 ② 파생변수 만들기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005840" y="2130552"/>
            <a:ext cx="48646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"대출일과 반납일로 '대출기간(일)'을 새 컬럼으로 계산해줘. 소속유형별 대출기간을 히트맵으로 그려줘"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22960" y="3657600"/>
            <a:ext cx="5230368" cy="2788920"/>
          </a:xfrm>
          <a:prstGeom prst="roundRect">
            <a:avLst>
              <a:gd name="adj" fmla="val 1967"/>
            </a:avLst>
          </a:prstGeom>
          <a:solidFill>
            <a:srgbClr val="1A1810"/>
          </a:solidFill>
          <a:ln w="12700">
            <a:solidFill>
              <a:srgbClr val="3E6E5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3785616"/>
            <a:ext cx="4773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9BE8B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예상 결과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051560" y="4187952"/>
            <a:ext cx="477316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marR="0" lvl="0" indent="-1524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미반납 건은 대출기간을 산정할 수 없으니 제외하겠다고 나옴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52400" marR="0" lvl="0" indent="-1524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'대출기간'이라는 새 컬럼을 만들 때 생기는 이슈를 Claude가 알아서 파악해준 것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52400" marR="0" lvl="0" indent="-1524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그래프는 우측과 같이 그려줌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217920" y="2933619"/>
            <a:ext cx="5376672" cy="1996601"/>
          </a:xfrm>
          <a:prstGeom prst="roundRect">
            <a:avLst>
              <a:gd name="adj" fmla="val 2748"/>
            </a:avLst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pic>
        <p:nvPicPr>
          <p:cNvPr id="11" name="Image 0" descr="src_unpacked/ppt/media/image5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3006771"/>
            <a:ext cx="5230368" cy="1850297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1051560"/>
            <a:ext cx="2377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0" b="1" i="0" u="none" strike="noStrike" kern="1200" cap="none" spc="0" normalizeH="0" baseline="0" noProof="0" dirty="0">
                <a:ln>
                  <a:noFill/>
                </a:ln>
                <a:solidFill>
                  <a:srgbClr val="2E2A18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kumimoji="0" lang="en-US" sz="1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822960" y="30632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5 — 추세에서 '진짜 신호'만 골라내기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822960" y="37947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맥락 착시 · 월별 서비스 이용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822960" y="43434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EDE8D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Seasonality &amp; lag vs. a real signal   ·   정조준하는 함정: 맥락 착시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22960" y="5806440"/>
            <a:ext cx="1207008" cy="420624"/>
          </a:xfrm>
          <a:prstGeom prst="roundRect">
            <a:avLst>
              <a:gd name="adj" fmla="val 19565"/>
            </a:avLst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5806440"/>
            <a:ext cx="12070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DE8D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1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249424" y="5806440"/>
            <a:ext cx="1207008" cy="420624"/>
          </a:xfrm>
          <a:prstGeom prst="roundRect">
            <a:avLst>
              <a:gd name="adj" fmla="val 19565"/>
            </a:avLst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249424" y="5806440"/>
            <a:ext cx="12070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DE8D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2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675888" y="5806440"/>
            <a:ext cx="1207008" cy="420624"/>
          </a:xfrm>
          <a:prstGeom prst="roundRect">
            <a:avLst>
              <a:gd name="adj" fmla="val 19565"/>
            </a:avLst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75888" y="5806440"/>
            <a:ext cx="12070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DE8D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3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102352" y="5806440"/>
            <a:ext cx="1207008" cy="420624"/>
          </a:xfrm>
          <a:prstGeom prst="roundRect">
            <a:avLst>
              <a:gd name="adj" fmla="val 19565"/>
            </a:avLst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102352" y="5806440"/>
            <a:ext cx="12070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DE8D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4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528816" y="5806440"/>
            <a:ext cx="1207008" cy="420624"/>
          </a:xfrm>
          <a:prstGeom prst="roundRect">
            <a:avLst>
              <a:gd name="adj" fmla="val 19565"/>
            </a:avLst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28816" y="5806440"/>
            <a:ext cx="12070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A181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5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955280" y="5806440"/>
            <a:ext cx="1207008" cy="420624"/>
          </a:xfrm>
          <a:prstGeom prst="roundRect">
            <a:avLst>
              <a:gd name="adj" fmla="val 19565"/>
            </a:avLst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955280" y="5806440"/>
            <a:ext cx="12070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DE8D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6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5 · ① 추세 보기 + 대시보드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02920" y="804672"/>
            <a:ext cx="11201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12개월 흐름을 인터랙티브 대시보드로 만들어보기 — Sonnet으로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5230368" cy="1371600"/>
          </a:xfrm>
          <a:prstGeom prst="roundRect">
            <a:avLst>
              <a:gd name="adj" fmla="val 2105"/>
            </a:avLst>
          </a:prstGeom>
          <a:solidFill>
            <a:srgbClr val="1A1810"/>
          </a:solidFill>
          <a:ln w="15875">
            <a:solidFill>
              <a:srgbClr val="8A7C4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1709928"/>
            <a:ext cx="4864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 입력 프롬프트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005840" y="2039112"/>
            <a:ext cx="48646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"월별 신규가입·문의건수·만족도를 한 화면에서 볼 수 있는 인터랙티브 대시보드를 HTML 아티팩트로 만들어줘."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22960" y="3108960"/>
            <a:ext cx="5230368" cy="1188720"/>
          </a:xfrm>
          <a:prstGeom prst="roundRect">
            <a:avLst>
              <a:gd name="adj" fmla="val 2105"/>
            </a:avLst>
          </a:prstGeom>
          <a:solidFill>
            <a:srgbClr val="221E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310896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인터랙티브 대시보드는 사용자가 마우스 클릭, 슬라이더 조작, 필터 변경 등을 통해 실시간으로 데이터를 탐색하고 시뮬레이션할 수 있는 동적 화면을 의미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22960" y="4434840"/>
            <a:ext cx="5230368" cy="1792224"/>
          </a:xfrm>
          <a:prstGeom prst="roundRect">
            <a:avLst>
              <a:gd name="adj" fmla="val 2105"/>
            </a:avLst>
          </a:prstGeom>
          <a:solidFill>
            <a:srgbClr val="1A1810"/>
          </a:solidFill>
          <a:ln w="12700">
            <a:solidFill>
              <a:srgbClr val="6E4A3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51560" y="4553712"/>
            <a:ext cx="4773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A89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 '대시보드(베타)'와 혼동 주의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1051560" y="4910328"/>
            <a:ext cx="477316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marR="0" lvl="0" indent="-1524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아티팩트 화면의 '대시보드(베타)'는 회사 데이터베이스나 업무 앱(Salesforce 등)에 연결해 SQL로 데이터를 불러오는 </a:t>
            </a:r>
            <a:r>
              <a:rPr kumimoji="0" lang="en-US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별도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</a:t>
            </a: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</a:t>
            </a:r>
            <a:r>
              <a:rPr lang="en-US" altLang="ko-KR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</a:t>
            </a:r>
            <a:r>
              <a:rPr lang="ko-KR" alt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년 </a:t>
            </a:r>
            <a:r>
              <a:rPr lang="en-US" altLang="ko-KR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r>
              <a:rPr lang="ko-KR" alt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월에 생긴 기능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52400" marR="0" lvl="0" indent="-1524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업로드한 파일로 하는 이 실습은 템플릿 대신 위 프롬프트처럼 'HTML 아티팩트'를 명시해 요청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217920" y="1600200"/>
            <a:ext cx="5376672" cy="4626864"/>
          </a:xfrm>
          <a:prstGeom prst="roundRect">
            <a:avLst>
              <a:gd name="adj" fmla="val 2105"/>
            </a:avLst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pic>
        <p:nvPicPr>
          <p:cNvPr id="13" name="Image 11" descr="src_unpacked/ppt/media/image5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1673352"/>
            <a:ext cx="5230368" cy="4480560"/>
          </a:xfrm>
          <a:prstGeom prst="rect">
            <a:avLst/>
          </a:prstGeom>
        </p:spPr>
      </p:pic>
      <p:sp>
        <p:nvSpPr>
          <p:cNvPr id="14" name="Text 12"/>
          <p:cNvSpPr txBox="1"/>
          <p:nvPr/>
        </p:nvSpPr>
        <p:spPr>
          <a:xfrm>
            <a:off x="6217920" y="6291072"/>
            <a:ext cx="5376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EDE8D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 화면 — 모델과 실행마다 디자인이 달라짐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5 · ① 추세 보기 + 대시보드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02920" y="804672"/>
            <a:ext cx="11201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만든 대시보드를 HTML 파일로 저장해 브라우저에서 보기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4343400" cy="2697480"/>
          </a:xfrm>
          <a:prstGeom prst="roundRect">
            <a:avLst>
              <a:gd name="adj" fmla="val 2105"/>
            </a:avLst>
          </a:prstGeom>
          <a:solidFill>
            <a:srgbClr val="1A1810"/>
          </a:solidFill>
          <a:ln w="12700">
            <a:solidFill>
              <a:srgbClr val="8A7C4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728216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방법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051560" y="2130552"/>
            <a:ext cx="38862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 아티팩트 위쪽 제목 옆 ⌄ 클릭 → '내보내기' (오른쪽 위 '공유' → '내보내기' 탭도 같은 창)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 'HTML · 독립 실행형 웹 페이지' 옆 다운로드 버튼 → .html 파일로 저장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 저장한 파일을 인터넷 브라우저로 열면 대시보드를 그대로 볼 수 있음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22960" y="4480560"/>
            <a:ext cx="4343400" cy="914400"/>
          </a:xfrm>
          <a:prstGeom prst="roundRect">
            <a:avLst>
              <a:gd name="adj" fmla="val 2105"/>
            </a:avLst>
          </a:prstGeom>
          <a:solidFill>
            <a:srgbClr val="221E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448056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다시 열기 : 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왼쪽 사이드바 '아티팩트' 메뉴에 지금까지 만든 아티팩트가 모두 모여 있음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40680" y="1600200"/>
            <a:ext cx="2181745" cy="3575304"/>
          </a:xfrm>
          <a:prstGeom prst="roundRect">
            <a:avLst>
              <a:gd name="adj" fmla="val 2105"/>
            </a:avLst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pic>
        <p:nvPicPr>
          <p:cNvPr id="10" name="Image 8" descr="artifact title menu with Expor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3832" y="1673352"/>
            <a:ext cx="2035441" cy="3429000"/>
          </a:xfrm>
          <a:prstGeom prst="rect">
            <a:avLst/>
          </a:prstGeom>
        </p:spPr>
      </p:pic>
      <p:sp>
        <p:nvSpPr>
          <p:cNvPr id="12" name="Shape 10"/>
          <p:cNvSpPr/>
          <p:nvPr/>
        </p:nvSpPr>
        <p:spPr>
          <a:xfrm>
            <a:off x="7896745" y="1600200"/>
            <a:ext cx="3624695" cy="2560187"/>
          </a:xfrm>
          <a:prstGeom prst="roundRect">
            <a:avLst>
              <a:gd name="adj" fmla="val 2105"/>
            </a:avLst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pic>
        <p:nvPicPr>
          <p:cNvPr id="13" name="Image 11" descr="artifact export panel: HTML, Markdown, PD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9897" y="1673352"/>
            <a:ext cx="3478391" cy="2413883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5 · ① 추세 보기 + 대시보드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02920" y="804672"/>
            <a:ext cx="11201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12개월 흐름을 인터랙티브 대시보드로 만들어보기 — Opus로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5230368" cy="1371600"/>
          </a:xfrm>
          <a:prstGeom prst="roundRect">
            <a:avLst>
              <a:gd name="adj" fmla="val 2105"/>
            </a:avLst>
          </a:prstGeom>
          <a:solidFill>
            <a:srgbClr val="1A1810"/>
          </a:solidFill>
          <a:ln w="15875">
            <a:solidFill>
              <a:srgbClr val="8A7C4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1709928"/>
            <a:ext cx="4864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 입력 프롬프트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005840" y="2039112"/>
            <a:ext cx="48646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"월별 신규가입·문의건수·만족도를 한 화면에서 볼 수 있는 인터랙티브 대시보드를 HTML 아티팩트로 만들어줘."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22960" y="3154680"/>
            <a:ext cx="5230368" cy="2971800"/>
          </a:xfrm>
          <a:prstGeom prst="roundRect">
            <a:avLst>
              <a:gd name="adj" fmla="val 2105"/>
            </a:avLst>
          </a:prstGeom>
          <a:solidFill>
            <a:srgbClr val="221E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3337560"/>
            <a:ext cx="47548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marR="0" lvl="0" indent="-15240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인터랙티브 대시보드는 정적 그래프/차트보다 생성할 수 있는 내용과 방법이 다양 — Opus 모델 사용 시 만족도가 높고 원하는 방향으로 생성 가능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52400" marR="0" lvl="0" indent="-15240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EDE8D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DE8D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DE8D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실무에서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DE8D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인터랙티브 대시보드를 생성할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EDE8D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때는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DE8D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300" dirty="0">
                <a:solidFill>
                  <a:srgbClr val="EDE8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처음부터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DE8D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Opus </a:t>
            </a: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DE8D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 모델을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DE8D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EDE8D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</a:t>
            </a: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DE8D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하면 편함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583680" y="1600200"/>
            <a:ext cx="4458952" cy="4581144"/>
          </a:xfrm>
          <a:prstGeom prst="roundRect">
            <a:avLst>
              <a:gd name="adj" fmla="val 2105"/>
            </a:avLst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pic>
        <p:nvPicPr>
          <p:cNvPr id="10" name="Image 8" descr="src_unpacked/ppt/media/image5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6832" y="1673352"/>
            <a:ext cx="4312648" cy="4434840"/>
          </a:xfrm>
          <a:prstGeom prst="rect">
            <a:avLst/>
          </a:prstGeom>
        </p:spPr>
      </p:pic>
      <p:sp>
        <p:nvSpPr>
          <p:cNvPr id="11" name="Text 9"/>
          <p:cNvSpPr txBox="1"/>
          <p:nvPr/>
        </p:nvSpPr>
        <p:spPr>
          <a:xfrm>
            <a:off x="6583680" y="6272784"/>
            <a:ext cx="44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EDE8D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 화면 — 모델과 실행마다 디자인이 달라짐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5 · ① 인터랙티브 대시보드 분석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02920" y="804672"/>
            <a:ext cx="11201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12개월 흐름을 대시보드에서 읽기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84523" y="1572768"/>
            <a:ext cx="4814635" cy="4946904"/>
          </a:xfrm>
          <a:prstGeom prst="roundRect">
            <a:avLst>
              <a:gd name="adj" fmla="val 1140"/>
            </a:avLst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pic>
        <p:nvPicPr>
          <p:cNvPr id="5" name="Image 0" descr="src_unpacked/ppt/media/image5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675" y="1645920"/>
            <a:ext cx="4668331" cy="4800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126480" y="1645920"/>
            <a:ext cx="5394960" cy="2286000"/>
          </a:xfrm>
          <a:prstGeom prst="roundRect">
            <a:avLst>
              <a:gd name="adj" fmla="val 2400"/>
            </a:avLst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355080" y="178308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눈에 띄는 3가지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6355080" y="2194560"/>
            <a:ext cx="49377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marR="0" lvl="0" indent="-15240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8월 · 12월 가입 급감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52400" marR="0" lvl="0" indent="-15240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11월 가입 최고 (280)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52400" marR="0" lvl="0" indent="-15240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4~5월 문의 급증(310→420), 5월 만족도 최저(3.5)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6"/>
          <p:cNvSpPr/>
          <p:nvPr/>
        </p:nvSpPr>
        <p:spPr>
          <a:xfrm>
            <a:off x="6126480" y="4160520"/>
            <a:ext cx="5394960" cy="2286000"/>
          </a:xfrm>
          <a:prstGeom prst="roundRect">
            <a:avLst>
              <a:gd name="adj" fmla="val 2400"/>
            </a:avLst>
          </a:prstGeom>
          <a:solidFill>
            <a:srgbClr val="1A1810"/>
          </a:solidFill>
          <a:ln w="12700">
            <a:solidFill>
              <a:srgbClr val="6E4A3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355080" y="429768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A89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 대시보드 착시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6355080" y="4709160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marR="0" lvl="0" indent="-15240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7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차트가 매끈하고 인터랙티브할수록 결론을 의심 없이 받아들이기 쉬움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52400" marR="0" lvl="0" indent="-15240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 출렁임이 계절성인지, 일시적 사건인지, 진짜 추세인지"를 반드시 되물어야 함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5 · ② 신호 구분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02920" y="804672"/>
            <a:ext cx="11201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'하락'도 의미가 다르다 — 지속적 하락인지 파악하기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22960" y="1645920"/>
            <a:ext cx="5230368" cy="4023360"/>
          </a:xfrm>
          <a:prstGeom prst="roundRect">
            <a:avLst>
              <a:gd name="adj" fmla="val 1364"/>
            </a:avLst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801368"/>
            <a:ext cx="4773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A9C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계절성 착시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051560" y="2240280"/>
            <a:ext cx="4773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8월 · 12월 가입 급감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1051560" y="2788920"/>
            <a:ext cx="477316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여름 휴가·연말 시즌의 반복 패턴. 매년 같은 달에 나타나면 '문제'가 아니라 '계절성'. 작년 같은 달과 비교하면 드러남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291072" y="1645920"/>
            <a:ext cx="5230368" cy="4023360"/>
          </a:xfrm>
          <a:prstGeom prst="roundRect">
            <a:avLst>
              <a:gd name="adj" fmla="val 1364"/>
            </a:avLst>
          </a:prstGeom>
          <a:solidFill>
            <a:srgbClr val="1A1810"/>
          </a:solidFill>
          <a:ln w="12700">
            <a:solidFill>
              <a:srgbClr val="6E4A3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19672" y="1801368"/>
            <a:ext cx="4773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A89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진짜 신호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6519672" y="2240280"/>
            <a:ext cx="4773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4~5월 문의 급증 + 만족도 최저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6519672" y="2788920"/>
            <a:ext cx="477316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계절성으로 설명되지 않는 이례적 변화 + 만족도 동반 하락. 실제 사건(장애·정책 변경 등)을 의심하고 원인을 추적해야 할 신호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Text 0"/>
          <p:cNvSpPr txBox="1"/>
          <p:nvPr/>
        </p:nvSpPr>
        <p:spPr>
          <a:xfrm>
            <a:off x="822960" y="587044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DE8D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12개월 자료만으로는 계절성을 확정할 수 없음 — 두 해 이상 같은 달을 비교해야 판단 가능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5 · ③ 이동평균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02920" y="804672"/>
            <a:ext cx="11201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지속적 하락인지 파악하기 위해 이동 평균을 사용해 그래프를 그리도록 재지시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22960" y="1645920"/>
            <a:ext cx="5230368" cy="1691640"/>
          </a:xfrm>
          <a:prstGeom prst="roundRect">
            <a:avLst>
              <a:gd name="adj" fmla="val 3243"/>
            </a:avLst>
          </a:prstGeom>
          <a:solidFill>
            <a:srgbClr val="1A1810"/>
          </a:solidFill>
          <a:ln w="15875">
            <a:solidFill>
              <a:srgbClr val="8A7C4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1755648"/>
            <a:ext cx="4864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 ③ 이동평균으로 그래프를 매끈하게 하는 프롬프트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005840" y="2084832"/>
            <a:ext cx="48646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"월별 데이터에 3개월 이동평균을 적용해서, 단기 출렁임을 걷어내고 진짜 추세를 보여줘."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22960" y="3566160"/>
            <a:ext cx="5230368" cy="2377440"/>
          </a:xfrm>
          <a:prstGeom prst="roundRect">
            <a:avLst>
              <a:gd name="adj" fmla="val 2308"/>
            </a:avLst>
          </a:prstGeom>
          <a:solidFill>
            <a:srgbClr val="1A1810"/>
          </a:solidFill>
          <a:ln w="12700">
            <a:solidFill>
              <a:srgbClr val="3E6E5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3694176"/>
            <a:ext cx="4773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9BE8B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예상 결과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051560" y="4096512"/>
            <a:ext cx="477316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이동평균을 씌우면 8·12월의 뾰족한 골이 완만해지고, 우상향 추세가 드러남. 단기 노이즈와 장기 추세를 분리하는 도구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1051560"/>
            <a:ext cx="2377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0" b="1" i="0" u="none" strike="noStrike" kern="1200" cap="none" spc="0" normalizeH="0" baseline="0" noProof="0" dirty="0">
                <a:ln>
                  <a:noFill/>
                </a:ln>
                <a:solidFill>
                  <a:srgbClr val="2E2A18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kumimoji="0" lang="en-US" sz="1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822960" y="30632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6 — 표로 못 만들던 '문장'을 데이터로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822960" y="37947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지평 · 자유응답 설문의 구조화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822960" y="43434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EDE8D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The new frontier: coding unstructured text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22960" y="5806440"/>
            <a:ext cx="1207008" cy="420624"/>
          </a:xfrm>
          <a:prstGeom prst="roundRect">
            <a:avLst>
              <a:gd name="adj" fmla="val 19565"/>
            </a:avLst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5806440"/>
            <a:ext cx="12070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DE8D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1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249424" y="5806440"/>
            <a:ext cx="1207008" cy="420624"/>
          </a:xfrm>
          <a:prstGeom prst="roundRect">
            <a:avLst>
              <a:gd name="adj" fmla="val 19565"/>
            </a:avLst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249424" y="5806440"/>
            <a:ext cx="12070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DE8D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2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675888" y="5806440"/>
            <a:ext cx="1207008" cy="420624"/>
          </a:xfrm>
          <a:prstGeom prst="roundRect">
            <a:avLst>
              <a:gd name="adj" fmla="val 19565"/>
            </a:avLst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75888" y="5806440"/>
            <a:ext cx="12070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DE8D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3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102352" y="5806440"/>
            <a:ext cx="1207008" cy="420624"/>
          </a:xfrm>
          <a:prstGeom prst="roundRect">
            <a:avLst>
              <a:gd name="adj" fmla="val 19565"/>
            </a:avLst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102352" y="5806440"/>
            <a:ext cx="12070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DE8D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4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528816" y="5806440"/>
            <a:ext cx="1207008" cy="420624"/>
          </a:xfrm>
          <a:prstGeom prst="roundRect">
            <a:avLst>
              <a:gd name="adj" fmla="val 19565"/>
            </a:avLst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28816" y="5806440"/>
            <a:ext cx="12070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DE8D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5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955280" y="5806440"/>
            <a:ext cx="1207008" cy="420624"/>
          </a:xfrm>
          <a:prstGeom prst="roundRect">
            <a:avLst>
              <a:gd name="adj" fmla="val 19565"/>
            </a:avLst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955280" y="5806440"/>
            <a:ext cx="12070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A181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6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6 · 왜 '새 지평'인가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02920" y="804672"/>
            <a:ext cx="11201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설문에서 자유응답 분류해보기  =  분류하기가 어려워 사실상 그동안 버려지던 데이터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5230368" cy="4754880"/>
          </a:xfrm>
          <a:prstGeom prst="roundRect">
            <a:avLst>
              <a:gd name="adj" fmla="val 1154"/>
            </a:avLst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2103120"/>
            <a:ext cx="46634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숫자는 늘 분석했지만, '주관식 문장'은 읽기 번거로워 버려지기 일쑤였음.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AI는 이 비정형 텍스트를 분류·집계 가능한 데이터로 바꿈 — 표로 못 만들던 것을 표로 만들 수 있음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217920" y="2034540"/>
            <a:ext cx="5376672" cy="4069080"/>
          </a:xfrm>
          <a:prstGeom prst="roundRect">
            <a:avLst>
              <a:gd name="adj" fmla="val 1348"/>
            </a:avLst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pic>
        <p:nvPicPr>
          <p:cNvPr id="7" name="Image 0" descr="src_unpacked/ppt/media/image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2107692"/>
            <a:ext cx="5230368" cy="3922776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6 · ① 순진한 요약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02920" y="804672"/>
            <a:ext cx="11201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단순한 프롬프트로 분류해보기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22960" y="1645920"/>
            <a:ext cx="5230368" cy="1463040"/>
          </a:xfrm>
          <a:prstGeom prst="roundRect">
            <a:avLst>
              <a:gd name="adj" fmla="val 3750"/>
            </a:avLst>
          </a:prstGeom>
          <a:solidFill>
            <a:srgbClr val="1A1810"/>
          </a:solidFill>
          <a:ln w="15875">
            <a:solidFill>
              <a:srgbClr val="8A7C4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1755648"/>
            <a:ext cx="4864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 ① 먼저 '단순하게' 시켜보기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005840" y="2084832"/>
            <a:ext cx="48646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 자유응답 30건을 요약해서 주요 불만이 뭔지 알려줘."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291072" y="1645920"/>
            <a:ext cx="5230368" cy="4480560"/>
          </a:xfrm>
          <a:prstGeom prst="roundRect">
            <a:avLst>
              <a:gd name="adj" fmla="val 1224"/>
            </a:avLst>
          </a:prstGeom>
          <a:solidFill>
            <a:srgbClr val="1A1810"/>
          </a:solidFill>
          <a:ln w="12700">
            <a:solidFill>
              <a:srgbClr val="6E4A3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19672" y="1792224"/>
            <a:ext cx="4773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A89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 왜 이게 위험한가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519672" y="2267712"/>
            <a:ext cx="4773168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marR="0" lvl="0" indent="-15240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그럴듯한 문단이 나오지만, 무엇을 몇 건으로 셌는지 근거가 없음 — 분류 기준을 알려주지 않았기 때문에 LLM이 맘대로 분류하고 검증·재현이 불가능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52400" marR="0" lvl="0" indent="-15240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인상적인 소수 의견이 과대 대표되고, 조용한 다수가 묻힘 (빈도 왜곡)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52400" marR="0" lvl="0" indent="-15240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② '스키마 정해주는 프롬프트'로 넘어가기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6 · ② 스키마 정해주는 프롬프트 (핵심)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02920" y="804672"/>
            <a:ext cx="11201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'분류 기준'을 정하고 — 그 틀로 모든 응답을 라벨링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22960" y="1645920"/>
            <a:ext cx="10698480" cy="1691640"/>
          </a:xfrm>
          <a:prstGeom prst="roundRect">
            <a:avLst>
              <a:gd name="adj" fmla="val 3243"/>
            </a:avLst>
          </a:prstGeom>
          <a:solidFill>
            <a:srgbClr val="1A1810"/>
          </a:solidFill>
          <a:ln w="15875">
            <a:solidFill>
              <a:srgbClr val="8A7C4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1755648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 입력 프롬프트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005840" y="2084832"/>
            <a:ext cx="10332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"각 응답을 다음 스키마로 코딩해줘 — 감정(긍정/부정/중립), 주제(속도·가격·지원·기능·UI, 복수 가능), 핵심 요청 한 줄, 긴급도(상/중/하). 무응답·무관·단순 문의는 불만과 분리해서 따로 표시해줘. 결과를 표로 만들어줘."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22960" y="3611880"/>
            <a:ext cx="3566160" cy="1737360"/>
          </a:xfrm>
          <a:prstGeom prst="roundRect">
            <a:avLst>
              <a:gd name="adj" fmla="val 3158"/>
            </a:avLst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373989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 (자유응답)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051560" y="41148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"속도가 너무 느려서 답답해요. 빨리 개선되면 좋겠어요."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480560" y="4480560"/>
            <a:ext cx="320040" cy="0"/>
          </a:xfrm>
          <a:prstGeom prst="line">
            <a:avLst/>
          </a:prstGeom>
          <a:noFill/>
          <a:ln w="25400">
            <a:solidFill>
              <a:srgbClr val="FFD733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892040" y="3611880"/>
            <a:ext cx="3063240" cy="1737360"/>
          </a:xfrm>
          <a:prstGeom prst="roundRect">
            <a:avLst>
              <a:gd name="adj" fmla="val 3158"/>
            </a:avLst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20640" y="373989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스키마 (분류 기준)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5120640" y="411480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감정 · 주제(다중) · 핵심요청 · 긴급도 · 무응답/무관 분리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046720" y="4480560"/>
            <a:ext cx="320040" cy="0"/>
          </a:xfrm>
          <a:prstGeom prst="line">
            <a:avLst/>
          </a:prstGeom>
          <a:noFill/>
          <a:ln w="25400">
            <a:solidFill>
              <a:srgbClr val="FFD733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458200" y="3611880"/>
            <a:ext cx="3063240" cy="1737360"/>
          </a:xfrm>
          <a:prstGeom prst="roundRect">
            <a:avLst>
              <a:gd name="adj" fmla="val 3158"/>
            </a:avLst>
          </a:prstGeom>
          <a:solidFill>
            <a:srgbClr val="1A1810"/>
          </a:solidFill>
          <a:ln w="12700">
            <a:solidFill>
              <a:srgbClr val="8A7C4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86800" y="373989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코딩 결과 (한 행)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8686800" y="411480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감정: 부정 · 주제: 속도 · 핵심요청: 응답속도 개선 · 긴급도: 중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22960" y="5577840"/>
            <a:ext cx="10698480" cy="960120"/>
          </a:xfrm>
          <a:prstGeom prst="roundRect">
            <a:avLst>
              <a:gd name="adj" fmla="val 5714"/>
            </a:avLst>
          </a:prstGeom>
          <a:solidFill>
            <a:srgbClr val="1A1810"/>
          </a:solidFill>
          <a:ln w="12700">
            <a:solidFill>
              <a:srgbClr val="3E6E5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97280" y="5577840"/>
            <a:ext cx="10149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9BE8B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예상 결과   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스키마를 먼저 고정하면 30건 모두 같은 틀로 라벨링되어 감정 분포·주제별 건수·긴급도 우선순위를 표로 집계 가능. 기준이 글로 남으므로 다음 사람이 같은 기준으로 재현·확장 가능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6 · 함정 — 환각 · 조용한 오추출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02920" y="804672"/>
            <a:ext cx="11201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잘못 분류되어도 숫자 데이터처럼 '이상치 탐지'가 안 될 수 있으니 사람이 표본 검사 필요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22960" y="1645920"/>
            <a:ext cx="10698480" cy="1600200"/>
          </a:xfrm>
          <a:prstGeom prst="roundRect">
            <a:avLst>
              <a:gd name="adj" fmla="val 3429"/>
            </a:avLst>
          </a:prstGeom>
          <a:solidFill>
            <a:srgbClr val="1A1810"/>
          </a:solidFill>
          <a:ln w="12700">
            <a:solidFill>
              <a:srgbClr val="6E4A3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1874520"/>
            <a:ext cx="10149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marR="0" lvl="0" indent="-1524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수치 데이터는 LLM이나 사람이 검사하다가 "이상한데?" 싶은 점을 바로 발견 가능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52400" marR="0" lvl="0" indent="-1524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A89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그러나 설문 응답 같은 자연어는, 잘못 분류된 라벨이 표 안에서 완벽히 정상으로 보임 — 실제로는 긍정 답변인데 '부정'으로 처리되어도 엑셀에서 이상치처럼 보이지 않음.  그래서 더 위험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22960" y="3520440"/>
            <a:ext cx="3456432" cy="2926080"/>
          </a:xfrm>
          <a:prstGeom prst="roundRect">
            <a:avLst>
              <a:gd name="adj" fmla="val 1875"/>
            </a:avLst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24128" y="3703320"/>
            <a:ext cx="3054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R004 · 비꼬는 칭찬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024128" y="4206240"/>
            <a:ext cx="3054096" cy="548640"/>
          </a:xfrm>
          <a:prstGeom prst="roundRect">
            <a:avLst>
              <a:gd name="adj" fmla="val 10000"/>
            </a:avLst>
          </a:prstGeom>
          <a:solidFill>
            <a:srgbClr val="221E10"/>
          </a:solidFill>
          <a:ln w="12700">
            <a:solidFill>
              <a:srgbClr val="6E4A3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43000" y="4206240"/>
            <a:ext cx="2816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A89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AI: 긍정  →  부정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1024128" y="4937760"/>
            <a:ext cx="30540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정말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빠르네요</a:t>
            </a:r>
            <a:r>
              <a:rPr kumimoji="0" lang="en-US" altLang="ko-KR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^^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 —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반어</a:t>
            </a: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 가능성 있는데 </a:t>
            </a:r>
            <a:r>
              <a:rPr kumimoji="0" lang="en-US" altLang="ko-KR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</a:t>
            </a: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긍정으로 판단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443984" y="3520440"/>
            <a:ext cx="3456432" cy="2926080"/>
          </a:xfrm>
          <a:prstGeom prst="roundRect">
            <a:avLst>
              <a:gd name="adj" fmla="val 1875"/>
            </a:avLst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45152" y="3703320"/>
            <a:ext cx="3054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R022 · 문의를 불만으로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645152" y="4206240"/>
            <a:ext cx="3054096" cy="548640"/>
          </a:xfrm>
          <a:prstGeom prst="roundRect">
            <a:avLst>
              <a:gd name="adj" fmla="val 10000"/>
            </a:avLst>
          </a:prstGeom>
          <a:solidFill>
            <a:srgbClr val="221E10"/>
          </a:solidFill>
          <a:ln w="12700">
            <a:solidFill>
              <a:srgbClr val="6E4A3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64024" y="4206240"/>
            <a:ext cx="2816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A89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AI: 불만  →  단순 문의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4645152" y="4937760"/>
            <a:ext cx="30540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"환불 절차 알려주세요" —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불만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아닌 단순 문의일 </a:t>
            </a:r>
            <a:r>
              <a:rPr kumimoji="0" lang="ko-KR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 있는데</a:t>
            </a: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불만 건수가 부풀려짐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065008" y="3520440"/>
            <a:ext cx="3456432" cy="2926080"/>
          </a:xfrm>
          <a:prstGeom prst="roundRect">
            <a:avLst>
              <a:gd name="adj" fmla="val 1875"/>
            </a:avLst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66176" y="3703320"/>
            <a:ext cx="3054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R006 · 무관한 응답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266176" y="4206240"/>
            <a:ext cx="3054096" cy="548640"/>
          </a:xfrm>
          <a:prstGeom prst="roundRect">
            <a:avLst>
              <a:gd name="adj" fmla="val 10000"/>
            </a:avLst>
          </a:prstGeom>
          <a:solidFill>
            <a:srgbClr val="221E10"/>
          </a:solidFill>
          <a:ln w="12700">
            <a:solidFill>
              <a:srgbClr val="6E4A3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85048" y="4206240"/>
            <a:ext cx="2816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A89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AI: 서비스 불만  →  무관(제외)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8266176" y="4937760"/>
            <a:ext cx="30540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"구내식당 메뉴가 별로" — 서비스와 무관. 분석에서 빼야 함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6 · ③ 집계 · 재현성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02920" y="804672"/>
            <a:ext cx="11201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분류를 여러 번 하고 LLM에게 비교하게 해서 재현성을 확인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22960" y="1645920"/>
            <a:ext cx="5230368" cy="1737360"/>
          </a:xfrm>
          <a:prstGeom prst="roundRect">
            <a:avLst>
              <a:gd name="adj" fmla="val 3158"/>
            </a:avLst>
          </a:prstGeom>
          <a:solidFill>
            <a:srgbClr val="1A1810"/>
          </a:solidFill>
          <a:ln w="15875">
            <a:solidFill>
              <a:srgbClr val="8A7C4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1755648"/>
            <a:ext cx="4864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 ③ 집계 + 대시보드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005840" y="2084832"/>
            <a:ext cx="48646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"분류 결과로 감정 분포, 주제별 건수, 긴급도 '상'인 핵심 요청 목록을 집계하고 HTML 아티팩트로 대시보드를 만들어줘."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22960" y="3611880"/>
            <a:ext cx="5230368" cy="1417320"/>
          </a:xfrm>
          <a:prstGeom prst="roundRect">
            <a:avLst>
              <a:gd name="adj" fmla="val 3871"/>
            </a:avLst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3739896"/>
            <a:ext cx="4773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재현성 점검 루프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051560" y="4114800"/>
            <a:ext cx="47731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 분류  →  2차 분류  →  차이만 검토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번 돌려 같으면 신뢰 ↑, 다르면 그 부분만 사람이 확정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22960" y="5257800"/>
            <a:ext cx="5230368" cy="1234440"/>
          </a:xfrm>
          <a:prstGeom prst="roundRect">
            <a:avLst>
              <a:gd name="adj" fmla="val 4444"/>
            </a:avLst>
          </a:prstGeom>
          <a:solidFill>
            <a:srgbClr val="1A1810"/>
          </a:solidFill>
          <a:ln w="12700">
            <a:solidFill>
              <a:srgbClr val="3E6E5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51560" y="5413248"/>
            <a:ext cx="47731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9BE8B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예상 결과 (강사 참고)   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불만/문의/무관이 분리된 깨끗한 집계. 긴급도 '상' 목록은 곧장 실무 액션 아이템으로 사용 가능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291072" y="1645920"/>
            <a:ext cx="5230368" cy="4846320"/>
          </a:xfrm>
          <a:prstGeom prst="roundRect">
            <a:avLst>
              <a:gd name="adj" fmla="val 1132"/>
            </a:avLst>
          </a:prstGeom>
          <a:solidFill>
            <a:srgbClr val="1A1810"/>
          </a:solidFill>
          <a:ln w="12700">
            <a:solidFill>
              <a:srgbClr val="6E4A3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19672" y="1792224"/>
            <a:ext cx="4773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A89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 어느 정도의 비재현성은 감안 필요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6519672" y="2286000"/>
            <a:ext cx="47731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marR="0" lvl="0" indent="-15240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응답·같은 프롬프트라도 실행마다 라벨이 조금씩 달라질 수 있음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52400" marR="0" lvl="0" indent="-15240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처방 :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52400" marR="0" lvl="0" indent="-15240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 스키마를 명시적·구체적으로 고정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52400" marR="0" lvl="0" indent="-15240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 2회 실행해 차이 비교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52400" marR="0" lvl="0" indent="-15240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 어긋난 건만 사람이 확정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4133</Words>
  <Application>Microsoft Office PowerPoint</Application>
  <PresentationFormat>와이드스크린</PresentationFormat>
  <Paragraphs>470</Paragraphs>
  <Slides>43</Slides>
  <Notes>42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43</vt:i4>
      </vt:variant>
    </vt:vector>
  </HeadingPairs>
  <TitlesOfParts>
    <vt:vector size="48" baseType="lpstr">
      <vt:lpstr>맑은 고딕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think</dc:creator>
  <cp:lastModifiedBy>think</cp:lastModifiedBy>
  <cp:revision>1</cp:revision>
  <dcterms:created xsi:type="dcterms:W3CDTF">2026-10-21T20:37:48Z</dcterms:created>
  <dcterms:modified xsi:type="dcterms:W3CDTF">2026-10-28T07:54:11Z</dcterms:modified>
</cp:coreProperties>
</file>